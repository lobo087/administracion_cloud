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E897509-A3BB-4E90-B475-3BF1BB92157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0FF9A6-28BC-4513-A6D8-76D834E01D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57709C-710E-4F62-9E46-ACA26D3B0F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F6CBB-BD89-4FF0-871A-D5D163BEEC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E76A78-EBC1-4299-93FB-91A260EB75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8E124C-2E30-4CDD-B436-0CCF4800E9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B551B5-885C-46DA-8525-C5A9BC2FE7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1F7B96-DDCE-4CAB-A467-0330178F5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78FBFA-2988-4A0F-863D-9762D45076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FD0261-49A5-4B7B-AEFB-A0804B4441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ACE77C-AC9E-4C8E-9D3A-3393DBF455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1DC3C1-44D3-4B82-9D11-3D4F9ABF29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308888-66D3-4373-B5EC-21F6E077F1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D3B555-343C-41DD-A1C5-E6C4543072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8AEC43-673D-461D-B660-12473E67C5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FA42C8-946A-4B50-817E-9DA806DF1A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C525FD-97C4-47E5-9FCB-24AFB7158B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ADF68A-727D-4854-BEB5-AC980CD1E7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5B29E4-41A5-4880-98F5-27F05EB91B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5C39E5-4E4D-4E7E-ABD6-DE2CBD01F2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DD15AB-E44A-42F4-9C17-CF05DE98DA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A7ECEB-EEFD-466F-9DF1-D6A9C1D450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AE8F7B-556F-43FC-9DE1-D8AD0250DD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89F7F6-7995-4D1B-8563-FD175299D6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C62A6B-D0C7-4FC1-B7FC-9204304613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8CD916-21DB-46C8-8880-1FBEFF4784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608E38-47FA-4D6A-8C8E-2F218EA282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53B056-9C8A-43E2-BE4C-A5B9D8BC25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3BF260-1C0A-44B0-BE1F-16D530D8CD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06A5BA-944E-41FD-82DE-2225CB8A0B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446F10-1755-45BC-BDFC-48B63EB374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B56355-CAD3-4FD6-8D0B-398B5307BC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F07B1A-C307-4FAB-BCE8-5BCAAD8774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1A6C77-B9A6-4FEA-9705-58964967D0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0" descr="/mnt/data/a_dark_futuristic_3d_isometric_perspective_tech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27"/>
          <p:cNvSpPr/>
          <p:nvPr/>
        </p:nvSpPr>
        <p:spPr>
          <a:xfrm>
            <a:off x="594360" y="68580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B020"/>
                </a:solidFill>
                <a:effectLst/>
                <a:uFillTx/>
                <a:latin typeface="Aptos"/>
              </a:rPr>
              <a:t>CLASE 05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8"/>
          <p:cNvSpPr/>
          <p:nvPr/>
        </p:nvSpPr>
        <p:spPr>
          <a:xfrm>
            <a:off x="594360" y="1143000"/>
            <a:ext cx="45716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Kubernetes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612720" y="1883520"/>
            <a:ext cx="53946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Orquestación de contenedores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para aplicaciones cloud-native y redes blockchain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612720" y="2834640"/>
            <a:ext cx="2742840" cy="255600"/>
          </a:xfrm>
          <a:prstGeom prst="rect">
            <a:avLst/>
          </a:prstGeom>
          <a:solidFill>
            <a:srgbClr val="2E73FF">
              <a:alpha val="75000"/>
            </a:srgbClr>
          </a:solidFill>
          <a:ln w="8890">
            <a:solidFill>
              <a:srgbClr val="2E73FF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dirty="0">
                <a:solidFill>
                  <a:srgbClr val="F4FAFF"/>
                </a:solidFill>
                <a:effectLst/>
                <a:uFillTx/>
                <a:latin typeface="Aptos"/>
              </a:rPr>
              <a:t>Semana 5 · </a:t>
            </a:r>
            <a:r>
              <a:rPr lang="en-US" sz="850" b="1" u="none" strike="noStrike" dirty="0" err="1">
                <a:solidFill>
                  <a:srgbClr val="F4FAFF"/>
                </a:solidFill>
                <a:effectLst/>
                <a:uFillTx/>
                <a:latin typeface="Aptos"/>
              </a:rPr>
              <a:t>Contenedores</a:t>
            </a:r>
            <a:r>
              <a:rPr lang="en-US" sz="850" b="1" u="none" strike="noStrike" dirty="0">
                <a:solidFill>
                  <a:srgbClr val="F4FAFF"/>
                </a:solidFill>
                <a:effectLst/>
                <a:uFillTx/>
                <a:latin typeface="Aptos"/>
              </a:rPr>
              <a:t> y </a:t>
            </a:r>
            <a:r>
              <a:rPr lang="en-US" sz="850" b="1" u="none" strike="noStrike" dirty="0" err="1">
                <a:solidFill>
                  <a:srgbClr val="F4FAFF"/>
                </a:solidFill>
                <a:effectLst/>
                <a:uFillTx/>
                <a:latin typeface="Aptos"/>
              </a:rPr>
              <a:t>Orquestación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1"/>
          <p:cNvSpPr/>
          <p:nvPr/>
        </p:nvSpPr>
        <p:spPr>
          <a:xfrm>
            <a:off x="612720" y="61264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Migración y Administración de Servicios en la Nube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Temas de la clase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1"/>
          <p:cNvSpPr/>
          <p:nvPr/>
        </p:nvSpPr>
        <p:spPr>
          <a:xfrm>
            <a:off x="731520" y="1691640"/>
            <a:ext cx="383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2"/>
          <p:cNvSpPr/>
          <p:nvPr/>
        </p:nvSpPr>
        <p:spPr>
          <a:xfrm>
            <a:off x="1234440" y="172836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Qué es Kubernetes y por qué nació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3"/>
          <p:cNvSpPr/>
          <p:nvPr/>
        </p:nvSpPr>
        <p:spPr>
          <a:xfrm>
            <a:off x="731520" y="2258640"/>
            <a:ext cx="383760" cy="38376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4"/>
          <p:cNvSpPr/>
          <p:nvPr/>
        </p:nvSpPr>
        <p:spPr>
          <a:xfrm>
            <a:off x="1234440" y="229500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Problemas que resuelve: escala, fallos, red y despliegue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5"/>
          <p:cNvSpPr/>
          <p:nvPr/>
        </p:nvSpPr>
        <p:spPr>
          <a:xfrm>
            <a:off x="731520" y="2825640"/>
            <a:ext cx="383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6"/>
          <p:cNvSpPr/>
          <p:nvPr/>
        </p:nvSpPr>
        <p:spPr>
          <a:xfrm>
            <a:off x="1234440" y="286200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Arquitectura: plano de control y nodos worker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7"/>
          <p:cNvSpPr/>
          <p:nvPr/>
        </p:nvSpPr>
        <p:spPr>
          <a:xfrm>
            <a:off x="731520" y="3392280"/>
            <a:ext cx="383760" cy="38376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8"/>
          <p:cNvSpPr/>
          <p:nvPr/>
        </p:nvSpPr>
        <p:spPr>
          <a:xfrm>
            <a:off x="1234440" y="342900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Objetos: Pods, Deployments, Services, Ingress y Volumes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9"/>
          <p:cNvSpPr/>
          <p:nvPr/>
        </p:nvSpPr>
        <p:spPr>
          <a:xfrm>
            <a:off x="731520" y="3959280"/>
            <a:ext cx="383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0"/>
          <p:cNvSpPr/>
          <p:nvPr/>
        </p:nvSpPr>
        <p:spPr>
          <a:xfrm>
            <a:off x="1234440" y="399600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ConfigMaps, Secrets, Namespaces, Labels y NetworkPolicies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1"/>
          <p:cNvSpPr/>
          <p:nvPr/>
        </p:nvSpPr>
        <p:spPr>
          <a:xfrm>
            <a:off x="731520" y="4526280"/>
            <a:ext cx="383760" cy="38376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2"/>
          <p:cNvSpPr/>
          <p:nvPr/>
        </p:nvSpPr>
        <p:spPr>
          <a:xfrm>
            <a:off x="1234440" y="456300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Operación: kubectl, rolling updates, rollback, autoscaling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3"/>
          <p:cNvSpPr/>
          <p:nvPr/>
        </p:nvSpPr>
        <p:spPr>
          <a:xfrm>
            <a:off x="731520" y="5093280"/>
            <a:ext cx="383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4"/>
          <p:cNvSpPr/>
          <p:nvPr/>
        </p:nvSpPr>
        <p:spPr>
          <a:xfrm>
            <a:off x="1234440" y="512964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Aplicación a redes blockchain y nodos validadores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0" descr="/mnt/data/a_futuristic_3d_neon_infographic_scene_on_a_dark_n.png"/>
          <p:cNvPicPr/>
          <p:nvPr/>
        </p:nvPicPr>
        <p:blipFill>
          <a:blip r:embed="rId3"/>
          <a:srcRect l="27752" r="27752"/>
          <a:stretch/>
        </p:blipFill>
        <p:spPr>
          <a:xfrm>
            <a:off x="7726680" y="1097280"/>
            <a:ext cx="3794400" cy="48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45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De monolito a orquestación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1"/>
          <p:cNvSpPr/>
          <p:nvPr/>
        </p:nvSpPr>
        <p:spPr>
          <a:xfrm>
            <a:off x="594360" y="1554480"/>
            <a:ext cx="2148480" cy="45684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Monolito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2"/>
          <p:cNvSpPr/>
          <p:nvPr/>
        </p:nvSpPr>
        <p:spPr>
          <a:xfrm>
            <a:off x="594360" y="2148840"/>
            <a:ext cx="2148480" cy="1828440"/>
          </a:xfrm>
          <a:prstGeom prst="rect">
            <a:avLst/>
          </a:prstGeom>
          <a:solidFill>
            <a:srgbClr val="0B2447">
              <a:alpha val="95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Una app grande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una entrega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un servidor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3"/>
          <p:cNvSpPr/>
          <p:nvPr/>
        </p:nvSpPr>
        <p:spPr>
          <a:xfrm>
            <a:off x="2834640" y="2971800"/>
            <a:ext cx="320040" cy="360"/>
          </a:xfrm>
          <a:prstGeom prst="line">
            <a:avLst/>
          </a:prstGeom>
          <a:ln w="2794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4"/>
          <p:cNvSpPr/>
          <p:nvPr/>
        </p:nvSpPr>
        <p:spPr>
          <a:xfrm>
            <a:off x="3337560" y="1554480"/>
            <a:ext cx="2148480" cy="45684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Microservicios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5"/>
          <p:cNvSpPr/>
          <p:nvPr/>
        </p:nvSpPr>
        <p:spPr>
          <a:xfrm>
            <a:off x="3337560" y="2148840"/>
            <a:ext cx="2148480" cy="1828440"/>
          </a:xfrm>
          <a:prstGeom prst="rect">
            <a:avLst/>
          </a:prstGeom>
          <a:solidFill>
            <a:srgbClr val="0B2447">
              <a:alpha val="95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Varias piezas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varios equipos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más comunicación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6"/>
          <p:cNvSpPr/>
          <p:nvPr/>
        </p:nvSpPr>
        <p:spPr>
          <a:xfrm>
            <a:off x="5577840" y="2971800"/>
            <a:ext cx="320040" cy="360"/>
          </a:xfrm>
          <a:prstGeom prst="line">
            <a:avLst/>
          </a:prstGeom>
          <a:ln w="2794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7"/>
          <p:cNvSpPr/>
          <p:nvPr/>
        </p:nvSpPr>
        <p:spPr>
          <a:xfrm>
            <a:off x="6080760" y="1554480"/>
            <a:ext cx="2148480" cy="45684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Docker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8"/>
          <p:cNvSpPr/>
          <p:nvPr/>
        </p:nvSpPr>
        <p:spPr>
          <a:xfrm>
            <a:off x="6080760" y="2148840"/>
            <a:ext cx="2148480" cy="1828440"/>
          </a:xfrm>
          <a:prstGeom prst="rect">
            <a:avLst/>
          </a:prstGeom>
          <a:solidFill>
            <a:srgbClr val="0B2447">
              <a:alpha val="95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Cada pieza viaja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en un contenedor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reproducible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9"/>
          <p:cNvSpPr/>
          <p:nvPr/>
        </p:nvSpPr>
        <p:spPr>
          <a:xfrm>
            <a:off x="8321040" y="2971800"/>
            <a:ext cx="320040" cy="360"/>
          </a:xfrm>
          <a:prstGeom prst="line">
            <a:avLst/>
          </a:prstGeom>
          <a:ln w="2794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0"/>
          <p:cNvSpPr/>
          <p:nvPr/>
        </p:nvSpPr>
        <p:spPr>
          <a:xfrm>
            <a:off x="8823960" y="1554480"/>
            <a:ext cx="2148480" cy="456840"/>
          </a:xfrm>
          <a:prstGeom prst="rect">
            <a:avLst/>
          </a:prstGeom>
          <a:solidFill>
            <a:srgbClr val="FFB020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Kubernetes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1"/>
          <p:cNvSpPr/>
          <p:nvPr/>
        </p:nvSpPr>
        <p:spPr>
          <a:xfrm>
            <a:off x="8823960" y="2148840"/>
            <a:ext cx="2148480" cy="1828440"/>
          </a:xfrm>
          <a:prstGeom prst="rect">
            <a:avLst/>
          </a:prstGeom>
          <a:solidFill>
            <a:srgbClr val="2F1F00">
              <a:alpha val="95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Coordina muchos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contenedores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en varios nodos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2"/>
          <p:cNvSpPr/>
          <p:nvPr/>
        </p:nvSpPr>
        <p:spPr>
          <a:xfrm>
            <a:off x="777240" y="5166360"/>
            <a:ext cx="10652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Idea central: Docker empaqueta; Kubernetes coordina, sana, escala y expone esas unidades en un clúster.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3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/mnt/data/a_dark_futuristic_3d_isometric_perspective_tech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¿Qué es Kubernetes?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1"/>
          <p:cNvSpPr/>
          <p:nvPr/>
        </p:nvSpPr>
        <p:spPr>
          <a:xfrm>
            <a:off x="685800" y="1783080"/>
            <a:ext cx="5714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Kubernetes administra cómputo, red y almacenamiento para que la aplicación no tenga que hacerlo manualmente.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2"/>
          <p:cNvSpPr/>
          <p:nvPr/>
        </p:nvSpPr>
        <p:spPr>
          <a:xfrm>
            <a:off x="822960" y="2788920"/>
            <a:ext cx="52117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Define el estado deseado mediante objetos declarativos.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Programa Pods en nodos disponibles.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Mantiene réplicas, reinicia fallos y balancea tráfico.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• Permite portabilidad entre nube, on-premise e híbrido.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3"/>
          <p:cNvSpPr/>
          <p:nvPr/>
        </p:nvSpPr>
        <p:spPr>
          <a:xfrm>
            <a:off x="6812280" y="1508760"/>
            <a:ext cx="429732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No 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4"/>
          <p:cNvSpPr/>
          <p:nvPr/>
        </p:nvSpPr>
        <p:spPr>
          <a:xfrm>
            <a:off x="6812280" y="1920240"/>
            <a:ext cx="4297320" cy="10054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un reemplazo de Docker ni una máquina virtual. Es un plano de control para operar contenedores a escala.</a:t>
            </a:r>
            <a:endParaRPr lang="en-US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5"/>
          <p:cNvSpPr/>
          <p:nvPr/>
        </p:nvSpPr>
        <p:spPr>
          <a:xfrm>
            <a:off x="6812280" y="3246120"/>
            <a:ext cx="429732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Sí 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6"/>
          <p:cNvSpPr/>
          <p:nvPr/>
        </p:nvSpPr>
        <p:spPr>
          <a:xfrm>
            <a:off x="6812280" y="3657600"/>
            <a:ext cx="4297320" cy="10054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un sistema que observa el clúster y corrige diferencias entre lo declarado y lo que realmente está ocurriendo.</a:t>
            </a:r>
            <a:endParaRPr lang="en-US" sz="11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7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Origen: de Borg a Kubernetes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1"/>
          <p:cNvSpPr/>
          <p:nvPr/>
        </p:nvSpPr>
        <p:spPr>
          <a:xfrm>
            <a:off x="731520" y="2011680"/>
            <a:ext cx="1051200" cy="43848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2000s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2"/>
          <p:cNvSpPr/>
          <p:nvPr/>
        </p:nvSpPr>
        <p:spPr>
          <a:xfrm>
            <a:off x="640080" y="26150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Borg / Omega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3"/>
          <p:cNvSpPr/>
          <p:nvPr/>
        </p:nvSpPr>
        <p:spPr>
          <a:xfrm>
            <a:off x="411480" y="306324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Google opera cargas masivas internas en clústeres.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4"/>
          <p:cNvSpPr/>
          <p:nvPr/>
        </p:nvSpPr>
        <p:spPr>
          <a:xfrm>
            <a:off x="1828800" y="2230920"/>
            <a:ext cx="1005840" cy="360"/>
          </a:xfrm>
          <a:prstGeom prst="line">
            <a:avLst/>
          </a:prstGeom>
          <a:ln w="2540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5"/>
          <p:cNvSpPr/>
          <p:nvPr/>
        </p:nvSpPr>
        <p:spPr>
          <a:xfrm>
            <a:off x="3520440" y="2011680"/>
            <a:ext cx="1051200" cy="438480"/>
          </a:xfrm>
          <a:prstGeom prst="rect">
            <a:avLst/>
          </a:prstGeom>
          <a:solidFill>
            <a:srgbClr val="FFB020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2014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6"/>
          <p:cNvSpPr/>
          <p:nvPr/>
        </p:nvSpPr>
        <p:spPr>
          <a:xfrm>
            <a:off x="3429000" y="26150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Kubernetes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7"/>
          <p:cNvSpPr/>
          <p:nvPr/>
        </p:nvSpPr>
        <p:spPr>
          <a:xfrm>
            <a:off x="3200400" y="306324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Primer commit público del proyecto en GitHub.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8"/>
          <p:cNvSpPr/>
          <p:nvPr/>
        </p:nvSpPr>
        <p:spPr>
          <a:xfrm>
            <a:off x="4617720" y="2230920"/>
            <a:ext cx="1005840" cy="360"/>
          </a:xfrm>
          <a:prstGeom prst="line">
            <a:avLst/>
          </a:prstGeom>
          <a:ln w="2540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9"/>
          <p:cNvSpPr/>
          <p:nvPr/>
        </p:nvSpPr>
        <p:spPr>
          <a:xfrm>
            <a:off x="6309360" y="2011680"/>
            <a:ext cx="1051200" cy="43848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2015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0"/>
          <p:cNvSpPr/>
          <p:nvPr/>
        </p:nvSpPr>
        <p:spPr>
          <a:xfrm>
            <a:off x="6217920" y="26150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Kubernetes 1.0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1"/>
          <p:cNvSpPr/>
          <p:nvPr/>
        </p:nvSpPr>
        <p:spPr>
          <a:xfrm>
            <a:off x="5989320" y="306324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Versión lista para producción y donación a CNCF.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2"/>
          <p:cNvSpPr/>
          <p:nvPr/>
        </p:nvSpPr>
        <p:spPr>
          <a:xfrm>
            <a:off x="7406640" y="2230920"/>
            <a:ext cx="1005840" cy="360"/>
          </a:xfrm>
          <a:prstGeom prst="line">
            <a:avLst/>
          </a:prstGeom>
          <a:ln w="2540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3"/>
          <p:cNvSpPr/>
          <p:nvPr/>
        </p:nvSpPr>
        <p:spPr>
          <a:xfrm>
            <a:off x="9098280" y="2011680"/>
            <a:ext cx="1051200" cy="43848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Hoy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4"/>
          <p:cNvSpPr/>
          <p:nvPr/>
        </p:nvSpPr>
        <p:spPr>
          <a:xfrm>
            <a:off x="9006840" y="26150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Cloud native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5"/>
          <p:cNvSpPr/>
          <p:nvPr/>
        </p:nvSpPr>
        <p:spPr>
          <a:xfrm>
            <a:off x="8778240" y="306324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Ecosistema amplio: EKS, GKE, AKS, OpenShift, Rancher.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6"/>
          <p:cNvSpPr/>
          <p:nvPr/>
        </p:nvSpPr>
        <p:spPr>
          <a:xfrm>
            <a:off x="1234440" y="4892040"/>
            <a:ext cx="9783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Kubernetes hereda ideas de administración de clústeres, pero las expone como API abierta y extensible para contenedores.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7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0" descr="/mnt/data/a_futuristic_3d_neon_infographic_scene_on_a_dark_n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¿Qué problema resuelve?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1"/>
          <p:cNvSpPr/>
          <p:nvPr/>
        </p:nvSpPr>
        <p:spPr>
          <a:xfrm>
            <a:off x="731520" y="1508760"/>
            <a:ext cx="4983120" cy="3261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Fallos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2"/>
          <p:cNvSpPr/>
          <p:nvPr/>
        </p:nvSpPr>
        <p:spPr>
          <a:xfrm>
            <a:off x="731520" y="1862640"/>
            <a:ext cx="4983120" cy="6058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Si un nodo cae, los Pods deben levantarse en otro lugar.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3"/>
          <p:cNvSpPr/>
          <p:nvPr/>
        </p:nvSpPr>
        <p:spPr>
          <a:xfrm>
            <a:off x="6263640" y="1508760"/>
            <a:ext cx="4983120" cy="3261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Escala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4"/>
          <p:cNvSpPr/>
          <p:nvPr/>
        </p:nvSpPr>
        <p:spPr>
          <a:xfrm>
            <a:off x="6263640" y="1862640"/>
            <a:ext cx="4983120" cy="6058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Más carga implica más réplicas, no copiar comandos a mano.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5"/>
          <p:cNvSpPr/>
          <p:nvPr/>
        </p:nvSpPr>
        <p:spPr>
          <a:xfrm>
            <a:off x="731520" y="2834640"/>
            <a:ext cx="4983120" cy="3261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6"/>
          <p:cNvSpPr/>
          <p:nvPr/>
        </p:nvSpPr>
        <p:spPr>
          <a:xfrm>
            <a:off x="731520" y="3188520"/>
            <a:ext cx="4983120" cy="6058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Los Pods cambian de IP; los clientes necesitan un nombre estable.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7"/>
          <p:cNvSpPr/>
          <p:nvPr/>
        </p:nvSpPr>
        <p:spPr>
          <a:xfrm>
            <a:off x="6263640" y="2834640"/>
            <a:ext cx="4983120" cy="3261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Actualizaciones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8"/>
          <p:cNvSpPr/>
          <p:nvPr/>
        </p:nvSpPr>
        <p:spPr>
          <a:xfrm>
            <a:off x="6263640" y="3188520"/>
            <a:ext cx="4983120" cy="6058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Cambiar de versión sin apagar todo el sistema.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9"/>
          <p:cNvSpPr/>
          <p:nvPr/>
        </p:nvSpPr>
        <p:spPr>
          <a:xfrm>
            <a:off x="731520" y="4160520"/>
            <a:ext cx="4983120" cy="3261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Configuración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0"/>
          <p:cNvSpPr/>
          <p:nvPr/>
        </p:nvSpPr>
        <p:spPr>
          <a:xfrm>
            <a:off x="731520" y="4514400"/>
            <a:ext cx="4983120" cy="6058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Separar código, variables, secretos y datos persistentes.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1"/>
          <p:cNvSpPr/>
          <p:nvPr/>
        </p:nvSpPr>
        <p:spPr>
          <a:xfrm>
            <a:off x="6263640" y="4160520"/>
            <a:ext cx="4983120" cy="3261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Observabilidad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2"/>
          <p:cNvSpPr/>
          <p:nvPr/>
        </p:nvSpPr>
        <p:spPr>
          <a:xfrm>
            <a:off x="6263640" y="4514400"/>
            <a:ext cx="4983120" cy="6058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Estado, eventos, logs y salud de cada componente.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3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El cambio mental: estado deseado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1"/>
          <p:cNvSpPr/>
          <p:nvPr/>
        </p:nvSpPr>
        <p:spPr>
          <a:xfrm>
            <a:off x="731520" y="1554480"/>
            <a:ext cx="3840120" cy="4023000"/>
          </a:xfrm>
          <a:prstGeom prst="rect">
            <a:avLst/>
          </a:prstGeom>
          <a:solidFill>
            <a:srgbClr val="020A17">
              <a:alpha val="95000"/>
            </a:srgbClr>
          </a:solidFill>
          <a:ln w="10160">
            <a:solidFill>
              <a:srgbClr val="16D9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apiVersion: apps/v1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kind: Deployment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name: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spec: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replicas: 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template: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spec: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containers: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- name: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  image: usuario/api:1.0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2"/>
          <p:cNvSpPr/>
          <p:nvPr/>
        </p:nvSpPr>
        <p:spPr>
          <a:xfrm>
            <a:off x="4800600" y="3246120"/>
            <a:ext cx="1188720" cy="360"/>
          </a:xfrm>
          <a:prstGeom prst="line">
            <a:avLst/>
          </a:prstGeom>
          <a:ln w="2794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3"/>
          <p:cNvSpPr/>
          <p:nvPr/>
        </p:nvSpPr>
        <p:spPr>
          <a:xfrm>
            <a:off x="6172200" y="2331720"/>
            <a:ext cx="2148480" cy="11883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Control loop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observa - compara - corrige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34"/>
          <p:cNvSpPr/>
          <p:nvPr/>
        </p:nvSpPr>
        <p:spPr>
          <a:xfrm>
            <a:off x="8458200" y="3246120"/>
            <a:ext cx="1097280" cy="360"/>
          </a:xfrm>
          <a:prstGeom prst="line">
            <a:avLst/>
          </a:prstGeom>
          <a:ln w="2794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5"/>
          <p:cNvSpPr/>
          <p:nvPr/>
        </p:nvSpPr>
        <p:spPr>
          <a:xfrm>
            <a:off x="9738360" y="2331720"/>
            <a:ext cx="1874160" cy="1188360"/>
          </a:xfrm>
          <a:prstGeom prst="rect">
            <a:avLst/>
          </a:prstGeom>
          <a:solidFill>
            <a:srgbClr val="102C1B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Estado actual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3 Pods corriendo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6"/>
          <p:cNvSpPr/>
          <p:nvPr/>
        </p:nvSpPr>
        <p:spPr>
          <a:xfrm>
            <a:off x="5989320" y="416052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spec = intención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status = realidad observada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7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Anatomía de un clúster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1"/>
          <p:cNvSpPr/>
          <p:nvPr/>
        </p:nvSpPr>
        <p:spPr>
          <a:xfrm>
            <a:off x="3931920" y="1417320"/>
            <a:ext cx="4297320" cy="41112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Plano de control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2"/>
          <p:cNvSpPr/>
          <p:nvPr/>
        </p:nvSpPr>
        <p:spPr>
          <a:xfrm>
            <a:off x="4206240" y="2057400"/>
            <a:ext cx="1462680" cy="41112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API Server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3"/>
          <p:cNvSpPr/>
          <p:nvPr/>
        </p:nvSpPr>
        <p:spPr>
          <a:xfrm>
            <a:off x="5897880" y="2057400"/>
            <a:ext cx="1005480" cy="41112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etcd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4"/>
          <p:cNvSpPr/>
          <p:nvPr/>
        </p:nvSpPr>
        <p:spPr>
          <a:xfrm>
            <a:off x="7178040" y="2057400"/>
            <a:ext cx="914040" cy="41112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Scheduler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5"/>
          <p:cNvSpPr/>
          <p:nvPr/>
        </p:nvSpPr>
        <p:spPr>
          <a:xfrm>
            <a:off x="4709160" y="2743200"/>
            <a:ext cx="2834280" cy="41112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Controllers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6"/>
          <p:cNvSpPr/>
          <p:nvPr/>
        </p:nvSpPr>
        <p:spPr>
          <a:xfrm>
            <a:off x="731520" y="3886200"/>
            <a:ext cx="2742840" cy="41112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Worker Node 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7"/>
          <p:cNvSpPr/>
          <p:nvPr/>
        </p:nvSpPr>
        <p:spPr>
          <a:xfrm>
            <a:off x="868680" y="4526280"/>
            <a:ext cx="749520" cy="31968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B9C8D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kubelet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38"/>
          <p:cNvSpPr/>
          <p:nvPr/>
        </p:nvSpPr>
        <p:spPr>
          <a:xfrm>
            <a:off x="1691640" y="4526280"/>
            <a:ext cx="749520" cy="31968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B9C8D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runtime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9"/>
          <p:cNvSpPr/>
          <p:nvPr/>
        </p:nvSpPr>
        <p:spPr>
          <a:xfrm>
            <a:off x="2514600" y="4526280"/>
            <a:ext cx="658080" cy="31968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B9C8D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proxy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0"/>
          <p:cNvSpPr/>
          <p:nvPr/>
        </p:nvSpPr>
        <p:spPr>
          <a:xfrm>
            <a:off x="1051560" y="5074920"/>
            <a:ext cx="2102760" cy="548280"/>
          </a:xfrm>
          <a:prstGeom prst="rect">
            <a:avLst/>
          </a:prstGeom>
          <a:solidFill>
            <a:srgbClr val="0A2E5B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1"/>
          <p:cNvSpPr/>
          <p:nvPr/>
        </p:nvSpPr>
        <p:spPr>
          <a:xfrm flipH="1">
            <a:off x="2103120" y="3154680"/>
            <a:ext cx="3977640" cy="685800"/>
          </a:xfrm>
          <a:prstGeom prst="line">
            <a:avLst/>
          </a:prstGeom>
          <a:ln w="1651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2"/>
          <p:cNvSpPr/>
          <p:nvPr/>
        </p:nvSpPr>
        <p:spPr>
          <a:xfrm>
            <a:off x="4572000" y="3886200"/>
            <a:ext cx="2742840" cy="41112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Worker Node 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3"/>
          <p:cNvSpPr/>
          <p:nvPr/>
        </p:nvSpPr>
        <p:spPr>
          <a:xfrm>
            <a:off x="4709160" y="4526280"/>
            <a:ext cx="749520" cy="31968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B9C8D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kubelet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4"/>
          <p:cNvSpPr/>
          <p:nvPr/>
        </p:nvSpPr>
        <p:spPr>
          <a:xfrm>
            <a:off x="5532120" y="4526280"/>
            <a:ext cx="749520" cy="31968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B9C8D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runtime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5"/>
          <p:cNvSpPr/>
          <p:nvPr/>
        </p:nvSpPr>
        <p:spPr>
          <a:xfrm>
            <a:off x="6355080" y="4526280"/>
            <a:ext cx="658080" cy="31968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B9C8D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proxy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46"/>
          <p:cNvSpPr/>
          <p:nvPr/>
        </p:nvSpPr>
        <p:spPr>
          <a:xfrm>
            <a:off x="4892040" y="5074920"/>
            <a:ext cx="2102760" cy="548280"/>
          </a:xfrm>
          <a:prstGeom prst="rect">
            <a:avLst/>
          </a:prstGeom>
          <a:solidFill>
            <a:srgbClr val="0A2E5B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47"/>
          <p:cNvSpPr/>
          <p:nvPr/>
        </p:nvSpPr>
        <p:spPr>
          <a:xfrm flipH="1">
            <a:off x="5943600" y="3154680"/>
            <a:ext cx="137160" cy="685800"/>
          </a:xfrm>
          <a:prstGeom prst="line">
            <a:avLst/>
          </a:prstGeom>
          <a:ln w="1651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48"/>
          <p:cNvSpPr/>
          <p:nvPr/>
        </p:nvSpPr>
        <p:spPr>
          <a:xfrm>
            <a:off x="8412480" y="3886200"/>
            <a:ext cx="2742840" cy="41112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Worker Node 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49"/>
          <p:cNvSpPr/>
          <p:nvPr/>
        </p:nvSpPr>
        <p:spPr>
          <a:xfrm>
            <a:off x="8549640" y="4526280"/>
            <a:ext cx="749520" cy="31968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B9C8D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kubelet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0"/>
          <p:cNvSpPr/>
          <p:nvPr/>
        </p:nvSpPr>
        <p:spPr>
          <a:xfrm>
            <a:off x="9372600" y="4526280"/>
            <a:ext cx="749520" cy="31968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B9C8D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runtime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1"/>
          <p:cNvSpPr/>
          <p:nvPr/>
        </p:nvSpPr>
        <p:spPr>
          <a:xfrm>
            <a:off x="10195560" y="4526280"/>
            <a:ext cx="658080" cy="31968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B9C8D8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proxy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52"/>
          <p:cNvSpPr/>
          <p:nvPr/>
        </p:nvSpPr>
        <p:spPr>
          <a:xfrm>
            <a:off x="8732520" y="5074920"/>
            <a:ext cx="2102760" cy="548280"/>
          </a:xfrm>
          <a:prstGeom prst="rect">
            <a:avLst/>
          </a:prstGeom>
          <a:solidFill>
            <a:srgbClr val="0A2E5B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53"/>
          <p:cNvSpPr/>
          <p:nvPr/>
        </p:nvSpPr>
        <p:spPr>
          <a:xfrm>
            <a:off x="6080760" y="3154680"/>
            <a:ext cx="3703320" cy="685800"/>
          </a:xfrm>
          <a:prstGeom prst="line">
            <a:avLst/>
          </a:prstGeom>
          <a:ln w="1651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54"/>
          <p:cNvSpPr/>
          <p:nvPr/>
        </p:nvSpPr>
        <p:spPr>
          <a:xfrm>
            <a:off x="685800" y="614484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Control plane decide; los worker nodes ejecutan.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55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Componentes del plano de control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1"/>
          <p:cNvSpPr/>
          <p:nvPr/>
        </p:nvSpPr>
        <p:spPr>
          <a:xfrm>
            <a:off x="731520" y="1508760"/>
            <a:ext cx="4983120" cy="3416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kube-apiserver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2"/>
          <p:cNvSpPr/>
          <p:nvPr/>
        </p:nvSpPr>
        <p:spPr>
          <a:xfrm>
            <a:off x="731520" y="1878120"/>
            <a:ext cx="4983120" cy="6361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Entrada principal: kubectl, CI/CD y controladores hablan con la API.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33"/>
          <p:cNvSpPr/>
          <p:nvPr/>
        </p:nvSpPr>
        <p:spPr>
          <a:xfrm>
            <a:off x="6217920" y="1508760"/>
            <a:ext cx="4983120" cy="3416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etcd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4"/>
          <p:cNvSpPr/>
          <p:nvPr/>
        </p:nvSpPr>
        <p:spPr>
          <a:xfrm>
            <a:off x="6217920" y="1878120"/>
            <a:ext cx="4983120" cy="6361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Base clave-valor consistente: guarda el estado del clúster.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5"/>
          <p:cNvSpPr/>
          <p:nvPr/>
        </p:nvSpPr>
        <p:spPr>
          <a:xfrm>
            <a:off x="731520" y="2898720"/>
            <a:ext cx="4983120" cy="3416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kube-scheduler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6"/>
          <p:cNvSpPr/>
          <p:nvPr/>
        </p:nvSpPr>
        <p:spPr>
          <a:xfrm>
            <a:off x="731520" y="3268080"/>
            <a:ext cx="4983120" cy="6361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Decide en qué nodo ejecutar cada Pod pendiente.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7"/>
          <p:cNvSpPr/>
          <p:nvPr/>
        </p:nvSpPr>
        <p:spPr>
          <a:xfrm>
            <a:off x="6217920" y="2898720"/>
            <a:ext cx="4983120" cy="3416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controller-manager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8"/>
          <p:cNvSpPr/>
          <p:nvPr/>
        </p:nvSpPr>
        <p:spPr>
          <a:xfrm>
            <a:off x="6217920" y="3268080"/>
            <a:ext cx="4983120" cy="6361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Controladores que reconcilián réplicas, nodos y endpoints.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9"/>
          <p:cNvSpPr/>
          <p:nvPr/>
        </p:nvSpPr>
        <p:spPr>
          <a:xfrm>
            <a:off x="731520" y="4288680"/>
            <a:ext cx="4983120" cy="3416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cloud-controller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40"/>
          <p:cNvSpPr/>
          <p:nvPr/>
        </p:nvSpPr>
        <p:spPr>
          <a:xfrm>
            <a:off x="731520" y="4658040"/>
            <a:ext cx="4983120" cy="6361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Integra balanceadores, discos e IPs del proveedor cloud.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41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Componentes del nodo worker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31"/>
          <p:cNvSpPr/>
          <p:nvPr/>
        </p:nvSpPr>
        <p:spPr>
          <a:xfrm>
            <a:off x="777240" y="1463040"/>
            <a:ext cx="347436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kubelet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2"/>
          <p:cNvSpPr/>
          <p:nvPr/>
        </p:nvSpPr>
        <p:spPr>
          <a:xfrm>
            <a:off x="777240" y="1874520"/>
            <a:ext cx="3474360" cy="8226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Agente local. Recibe especificaciones de Pods, arranca contenedores y reporta salud al API Server.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33"/>
          <p:cNvSpPr/>
          <p:nvPr/>
        </p:nvSpPr>
        <p:spPr>
          <a:xfrm>
            <a:off x="4480560" y="1463040"/>
            <a:ext cx="347436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Runtime de contenedores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4"/>
          <p:cNvSpPr/>
          <p:nvPr/>
        </p:nvSpPr>
        <p:spPr>
          <a:xfrm>
            <a:off x="4480560" y="1874520"/>
            <a:ext cx="3474360" cy="8226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containerd, CRI-O u otro runtime compatible con CRI. Descarga imágenes y crea contenedores.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35"/>
          <p:cNvSpPr/>
          <p:nvPr/>
        </p:nvSpPr>
        <p:spPr>
          <a:xfrm>
            <a:off x="8183880" y="1463040"/>
            <a:ext cx="320004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kube-proxy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6"/>
          <p:cNvSpPr/>
          <p:nvPr/>
        </p:nvSpPr>
        <p:spPr>
          <a:xfrm>
            <a:off x="8183880" y="1874520"/>
            <a:ext cx="3200040" cy="8226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Aplica reglas de red para Services y balanceo dentro del clúster.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37"/>
          <p:cNvSpPr/>
          <p:nvPr/>
        </p:nvSpPr>
        <p:spPr>
          <a:xfrm>
            <a:off x="1097280" y="525780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El nodo no “entiende la aplicación completa”; ejecuta lo que el plano de control le asigna.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8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Objetos de Kubernetes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31"/>
          <p:cNvSpPr/>
          <p:nvPr/>
        </p:nvSpPr>
        <p:spPr>
          <a:xfrm>
            <a:off x="777240" y="1463040"/>
            <a:ext cx="4205880" cy="4343040"/>
          </a:xfrm>
          <a:prstGeom prst="rect">
            <a:avLst/>
          </a:prstGeom>
          <a:solidFill>
            <a:srgbClr val="020A17">
              <a:alpha val="95000"/>
            </a:srgbClr>
          </a:solidFill>
          <a:ln w="10160">
            <a:solidFill>
              <a:srgbClr val="16D9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apiVersion: apps/v1      # versión de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kind: Deployment         # tipo de objeto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name: backend          # identidad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labels: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app: fastapi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spec:                    # estado deseado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replicas: 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status:                  # estado observado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availableReplicas: 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32"/>
          <p:cNvSpPr/>
          <p:nvPr/>
        </p:nvSpPr>
        <p:spPr>
          <a:xfrm>
            <a:off x="5715000" y="1234440"/>
            <a:ext cx="5211720" cy="2422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apiVersion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3"/>
          <p:cNvSpPr/>
          <p:nvPr/>
        </p:nvSpPr>
        <p:spPr>
          <a:xfrm>
            <a:off x="5715000" y="1504440"/>
            <a:ext cx="5211720" cy="4428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familia y versión de la API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34"/>
          <p:cNvSpPr/>
          <p:nvPr/>
        </p:nvSpPr>
        <p:spPr>
          <a:xfrm>
            <a:off x="5715000" y="2194560"/>
            <a:ext cx="5211720" cy="2422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kind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35"/>
          <p:cNvSpPr/>
          <p:nvPr/>
        </p:nvSpPr>
        <p:spPr>
          <a:xfrm>
            <a:off x="5715000" y="2464560"/>
            <a:ext cx="5211720" cy="4428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qué clase de recurso se crea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36"/>
          <p:cNvSpPr/>
          <p:nvPr/>
        </p:nvSpPr>
        <p:spPr>
          <a:xfrm>
            <a:off x="5715000" y="3154680"/>
            <a:ext cx="5211720" cy="2422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metadata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37"/>
          <p:cNvSpPr/>
          <p:nvPr/>
        </p:nvSpPr>
        <p:spPr>
          <a:xfrm>
            <a:off x="5715000" y="3424680"/>
            <a:ext cx="5211720" cy="4428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nombre, namespace, labels y annotations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38"/>
          <p:cNvSpPr/>
          <p:nvPr/>
        </p:nvSpPr>
        <p:spPr>
          <a:xfrm>
            <a:off x="5715000" y="4114800"/>
            <a:ext cx="5211720" cy="2422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spec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39"/>
          <p:cNvSpPr/>
          <p:nvPr/>
        </p:nvSpPr>
        <p:spPr>
          <a:xfrm>
            <a:off x="5715000" y="4384800"/>
            <a:ext cx="5211720" cy="4428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lo que quiero que ocurra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40"/>
          <p:cNvSpPr/>
          <p:nvPr/>
        </p:nvSpPr>
        <p:spPr>
          <a:xfrm>
            <a:off x="5715000" y="5074920"/>
            <a:ext cx="5211720" cy="2422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status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41"/>
          <p:cNvSpPr/>
          <p:nvPr/>
        </p:nvSpPr>
        <p:spPr>
          <a:xfrm>
            <a:off x="5715000" y="5344920"/>
            <a:ext cx="5211720" cy="4428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lo que Kubernetes observa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42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Pod: la unidad mínima desplegable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31"/>
          <p:cNvSpPr/>
          <p:nvPr/>
        </p:nvSpPr>
        <p:spPr>
          <a:xfrm>
            <a:off x="4160520" y="1325880"/>
            <a:ext cx="3885840" cy="41112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32"/>
          <p:cNvSpPr/>
          <p:nvPr/>
        </p:nvSpPr>
        <p:spPr>
          <a:xfrm>
            <a:off x="4434840" y="1965960"/>
            <a:ext cx="914040" cy="41112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IP única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33"/>
          <p:cNvSpPr/>
          <p:nvPr/>
        </p:nvSpPr>
        <p:spPr>
          <a:xfrm>
            <a:off x="5486400" y="1965960"/>
            <a:ext cx="959760" cy="41112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localhost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34"/>
          <p:cNvSpPr/>
          <p:nvPr/>
        </p:nvSpPr>
        <p:spPr>
          <a:xfrm>
            <a:off x="6583680" y="1965960"/>
            <a:ext cx="1188360" cy="41112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volumen compartido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35"/>
          <p:cNvSpPr/>
          <p:nvPr/>
        </p:nvSpPr>
        <p:spPr>
          <a:xfrm>
            <a:off x="4572000" y="2880360"/>
            <a:ext cx="1416960" cy="776880"/>
          </a:xfrm>
          <a:prstGeom prst="rect">
            <a:avLst/>
          </a:prstGeom>
          <a:solidFill>
            <a:srgbClr val="0A2E5B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Contenedor app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36"/>
          <p:cNvSpPr/>
          <p:nvPr/>
        </p:nvSpPr>
        <p:spPr>
          <a:xfrm>
            <a:off x="6263640" y="2880360"/>
            <a:ext cx="1416960" cy="776880"/>
          </a:xfrm>
          <a:prstGeom prst="rect">
            <a:avLst/>
          </a:prstGeom>
          <a:solidFill>
            <a:srgbClr val="0A2E5B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Sidecar logs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37"/>
          <p:cNvSpPr/>
          <p:nvPr/>
        </p:nvSpPr>
        <p:spPr>
          <a:xfrm>
            <a:off x="5257800" y="3749040"/>
            <a:ext cx="360" cy="960120"/>
          </a:xfrm>
          <a:prstGeom prst="line">
            <a:avLst/>
          </a:prstGeom>
          <a:ln w="2032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38"/>
          <p:cNvSpPr/>
          <p:nvPr/>
        </p:nvSpPr>
        <p:spPr>
          <a:xfrm>
            <a:off x="6995160" y="3749040"/>
            <a:ext cx="360" cy="960120"/>
          </a:xfrm>
          <a:prstGeom prst="line">
            <a:avLst/>
          </a:prstGeom>
          <a:ln w="2032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39"/>
          <p:cNvSpPr/>
          <p:nvPr/>
        </p:nvSpPr>
        <p:spPr>
          <a:xfrm>
            <a:off x="5074920" y="4800600"/>
            <a:ext cx="2102760" cy="5025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Volumen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40"/>
          <p:cNvSpPr/>
          <p:nvPr/>
        </p:nvSpPr>
        <p:spPr>
          <a:xfrm>
            <a:off x="777240" y="1828800"/>
            <a:ext cx="278856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Clave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41"/>
          <p:cNvSpPr/>
          <p:nvPr/>
        </p:nvSpPr>
        <p:spPr>
          <a:xfrm>
            <a:off x="777240" y="2240280"/>
            <a:ext cx="2788560" cy="17827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El Pod es efímero. Si desaparece, un controlador debe crear otro. No debe administrarse manualmente en producción.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42"/>
          <p:cNvSpPr/>
          <p:nvPr/>
        </p:nvSpPr>
        <p:spPr>
          <a:xfrm>
            <a:off x="8641080" y="1828800"/>
            <a:ext cx="278856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Blockchain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43"/>
          <p:cNvSpPr/>
          <p:nvPr/>
        </p:nvSpPr>
        <p:spPr>
          <a:xfrm>
            <a:off x="8641080" y="2240280"/>
            <a:ext cx="2788560" cy="17827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Un nodo validador suele requerir identidad, almacenamiento y red estable; por eso se usan StatefulSets más adelante.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44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Ciclo de vida del Pod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31"/>
          <p:cNvSpPr/>
          <p:nvPr/>
        </p:nvSpPr>
        <p:spPr>
          <a:xfrm>
            <a:off x="594360" y="2011680"/>
            <a:ext cx="1919880" cy="5025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Pending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32"/>
          <p:cNvSpPr/>
          <p:nvPr/>
        </p:nvSpPr>
        <p:spPr>
          <a:xfrm>
            <a:off x="594360" y="26517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asignación y descarga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33"/>
          <p:cNvSpPr/>
          <p:nvPr/>
        </p:nvSpPr>
        <p:spPr>
          <a:xfrm>
            <a:off x="2560320" y="2267640"/>
            <a:ext cx="502920" cy="360"/>
          </a:xfrm>
          <a:prstGeom prst="line">
            <a:avLst/>
          </a:prstGeom>
          <a:ln w="2032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34"/>
          <p:cNvSpPr/>
          <p:nvPr/>
        </p:nvSpPr>
        <p:spPr>
          <a:xfrm>
            <a:off x="2926080" y="2011680"/>
            <a:ext cx="1919880" cy="502560"/>
          </a:xfrm>
          <a:prstGeom prst="rect">
            <a:avLst/>
          </a:prstGeom>
          <a:solidFill>
            <a:srgbClr val="0E4A7A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Running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35"/>
          <p:cNvSpPr/>
          <p:nvPr/>
        </p:nvSpPr>
        <p:spPr>
          <a:xfrm>
            <a:off x="2926080" y="26517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contenedores activos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36"/>
          <p:cNvSpPr/>
          <p:nvPr/>
        </p:nvSpPr>
        <p:spPr>
          <a:xfrm>
            <a:off x="4892040" y="2267640"/>
            <a:ext cx="502920" cy="360"/>
          </a:xfrm>
          <a:prstGeom prst="line">
            <a:avLst/>
          </a:prstGeom>
          <a:ln w="2032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37"/>
          <p:cNvSpPr/>
          <p:nvPr/>
        </p:nvSpPr>
        <p:spPr>
          <a:xfrm>
            <a:off x="5257800" y="2011680"/>
            <a:ext cx="1919880" cy="5025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Succeeded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38"/>
          <p:cNvSpPr/>
          <p:nvPr/>
        </p:nvSpPr>
        <p:spPr>
          <a:xfrm>
            <a:off x="5257800" y="26517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tarea completada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9"/>
          <p:cNvSpPr/>
          <p:nvPr/>
        </p:nvSpPr>
        <p:spPr>
          <a:xfrm>
            <a:off x="7223760" y="2267640"/>
            <a:ext cx="502920" cy="360"/>
          </a:xfrm>
          <a:prstGeom prst="line">
            <a:avLst/>
          </a:prstGeom>
          <a:ln w="2032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40"/>
          <p:cNvSpPr/>
          <p:nvPr/>
        </p:nvSpPr>
        <p:spPr>
          <a:xfrm>
            <a:off x="7589520" y="2011680"/>
            <a:ext cx="1919880" cy="502560"/>
          </a:xfrm>
          <a:prstGeom prst="rect">
            <a:avLst/>
          </a:prstGeom>
          <a:solidFill>
            <a:srgbClr val="44111A">
              <a:alpha val="96000"/>
            </a:srgbClr>
          </a:solidFill>
          <a:ln w="13970">
            <a:solidFill>
              <a:srgbClr val="FF4D5E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Failed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41"/>
          <p:cNvSpPr/>
          <p:nvPr/>
        </p:nvSpPr>
        <p:spPr>
          <a:xfrm>
            <a:off x="7589520" y="26517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error no recuperado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42"/>
          <p:cNvSpPr/>
          <p:nvPr/>
        </p:nvSpPr>
        <p:spPr>
          <a:xfrm>
            <a:off x="9555480" y="2267640"/>
            <a:ext cx="502920" cy="360"/>
          </a:xfrm>
          <a:prstGeom prst="line">
            <a:avLst/>
          </a:prstGeom>
          <a:ln w="2032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43"/>
          <p:cNvSpPr/>
          <p:nvPr/>
        </p:nvSpPr>
        <p:spPr>
          <a:xfrm>
            <a:off x="9921240" y="2011680"/>
            <a:ext cx="1919880" cy="5025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Unknown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44"/>
          <p:cNvSpPr/>
          <p:nvPr/>
        </p:nvSpPr>
        <p:spPr>
          <a:xfrm>
            <a:off x="9921240" y="26517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estado no reportado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45"/>
          <p:cNvSpPr/>
          <p:nvPr/>
        </p:nvSpPr>
        <p:spPr>
          <a:xfrm>
            <a:off x="1097280" y="4069080"/>
            <a:ext cx="466308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ED76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Probes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46"/>
          <p:cNvSpPr/>
          <p:nvPr/>
        </p:nvSpPr>
        <p:spPr>
          <a:xfrm>
            <a:off x="1097280" y="4480560"/>
            <a:ext cx="4663080" cy="7311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ED76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livenessProbe reinicia contenedores no sanos. readinessProbe decide si un Pod recibe tráfico.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47"/>
          <p:cNvSpPr/>
          <p:nvPr/>
        </p:nvSpPr>
        <p:spPr>
          <a:xfrm>
            <a:off x="6446520" y="4069080"/>
            <a:ext cx="466308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En blockchain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48"/>
          <p:cNvSpPr/>
          <p:nvPr/>
        </p:nvSpPr>
        <p:spPr>
          <a:xfrm>
            <a:off x="6446520" y="4480560"/>
            <a:ext cx="4663080" cy="7311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Los checks pueden validar RPC, sincronización de bloques, salud P2P o disponibilidad del endpoint.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49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Controladores de carga de trabajo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31"/>
          <p:cNvSpPr/>
          <p:nvPr/>
        </p:nvSpPr>
        <p:spPr>
          <a:xfrm>
            <a:off x="777240" y="1417320"/>
            <a:ext cx="10652400" cy="285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Deployment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32"/>
          <p:cNvSpPr/>
          <p:nvPr/>
        </p:nvSpPr>
        <p:spPr>
          <a:xfrm>
            <a:off x="777240" y="1730880"/>
            <a:ext cx="10652400" cy="527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APIs, frontends, servicios sin estado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Uso: rolling update / rollback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33"/>
          <p:cNvSpPr/>
          <p:nvPr/>
        </p:nvSpPr>
        <p:spPr>
          <a:xfrm>
            <a:off x="777240" y="2532960"/>
            <a:ext cx="10652400" cy="285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StatefulSet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34"/>
          <p:cNvSpPr/>
          <p:nvPr/>
        </p:nvSpPr>
        <p:spPr>
          <a:xfrm>
            <a:off x="777240" y="2846520"/>
            <a:ext cx="10652400" cy="527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bases de datos, nodos blockchain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Uso: identidad y almacenamiento estable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35"/>
          <p:cNvSpPr/>
          <p:nvPr/>
        </p:nvSpPr>
        <p:spPr>
          <a:xfrm>
            <a:off x="777240" y="3648600"/>
            <a:ext cx="10652400" cy="285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DaemonSet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36"/>
          <p:cNvSpPr/>
          <p:nvPr/>
        </p:nvSpPr>
        <p:spPr>
          <a:xfrm>
            <a:off x="777240" y="3961800"/>
            <a:ext cx="10652400" cy="527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logs, monitoreo, agentes de red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Uso: una copia por nodo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37"/>
          <p:cNvSpPr/>
          <p:nvPr/>
        </p:nvSpPr>
        <p:spPr>
          <a:xfrm>
            <a:off x="777240" y="4763880"/>
            <a:ext cx="10652400" cy="285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Job / CronJob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38"/>
          <p:cNvSpPr/>
          <p:nvPr/>
        </p:nvSpPr>
        <p:spPr>
          <a:xfrm>
            <a:off x="777240" y="5077440"/>
            <a:ext cx="10652400" cy="527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migraciones, batch, tareas programadas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Uso: ejecutar hasta terminar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39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4" name="Image 0" descr="/mnt/data/a_high_tech_neon_sci_fi_infographic_scene_on_a_dar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Deployment: réplicas y actualizaciones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31"/>
          <p:cNvSpPr/>
          <p:nvPr/>
        </p:nvSpPr>
        <p:spPr>
          <a:xfrm>
            <a:off x="1051560" y="2834640"/>
            <a:ext cx="1051200" cy="5025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v1.0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32"/>
          <p:cNvSpPr/>
          <p:nvPr/>
        </p:nvSpPr>
        <p:spPr>
          <a:xfrm>
            <a:off x="2514600" y="2834640"/>
            <a:ext cx="1051200" cy="5025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v1.0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33"/>
          <p:cNvSpPr/>
          <p:nvPr/>
        </p:nvSpPr>
        <p:spPr>
          <a:xfrm>
            <a:off x="3977640" y="2834640"/>
            <a:ext cx="1051200" cy="5025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v1.0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34"/>
          <p:cNvSpPr/>
          <p:nvPr/>
        </p:nvSpPr>
        <p:spPr>
          <a:xfrm>
            <a:off x="5257800" y="3090600"/>
            <a:ext cx="1325880" cy="360"/>
          </a:xfrm>
          <a:prstGeom prst="line">
            <a:avLst/>
          </a:prstGeom>
          <a:ln w="2667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35"/>
          <p:cNvSpPr/>
          <p:nvPr/>
        </p:nvSpPr>
        <p:spPr>
          <a:xfrm>
            <a:off x="6812280" y="2331720"/>
            <a:ext cx="1051200" cy="502560"/>
          </a:xfrm>
          <a:prstGeom prst="rect">
            <a:avLst/>
          </a:prstGeom>
          <a:solidFill>
            <a:srgbClr val="063B59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v1.1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36"/>
          <p:cNvSpPr/>
          <p:nvPr/>
        </p:nvSpPr>
        <p:spPr>
          <a:xfrm>
            <a:off x="8275320" y="2331720"/>
            <a:ext cx="1051200" cy="5025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v1.0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37"/>
          <p:cNvSpPr/>
          <p:nvPr/>
        </p:nvSpPr>
        <p:spPr>
          <a:xfrm>
            <a:off x="9738360" y="2331720"/>
            <a:ext cx="1051200" cy="5025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v1.0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38"/>
          <p:cNvSpPr/>
          <p:nvPr/>
        </p:nvSpPr>
        <p:spPr>
          <a:xfrm>
            <a:off x="6812280" y="3794760"/>
            <a:ext cx="1051200" cy="502560"/>
          </a:xfrm>
          <a:prstGeom prst="rect">
            <a:avLst/>
          </a:prstGeom>
          <a:solidFill>
            <a:srgbClr val="063B59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v1.1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39"/>
          <p:cNvSpPr/>
          <p:nvPr/>
        </p:nvSpPr>
        <p:spPr>
          <a:xfrm>
            <a:off x="8275320" y="3794760"/>
            <a:ext cx="1051200" cy="502560"/>
          </a:xfrm>
          <a:prstGeom prst="rect">
            <a:avLst/>
          </a:prstGeom>
          <a:solidFill>
            <a:srgbClr val="063B59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v1.1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40"/>
          <p:cNvSpPr/>
          <p:nvPr/>
        </p:nvSpPr>
        <p:spPr>
          <a:xfrm>
            <a:off x="9738360" y="3794760"/>
            <a:ext cx="1051200" cy="502560"/>
          </a:xfrm>
          <a:prstGeom prst="rect">
            <a:avLst/>
          </a:prstGeom>
          <a:solidFill>
            <a:srgbClr val="063B59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v1.1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41"/>
          <p:cNvSpPr/>
          <p:nvPr/>
        </p:nvSpPr>
        <p:spPr>
          <a:xfrm>
            <a:off x="914400" y="525780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Rolling update = sustituir gradualmente Pods viejos por nuevos. Rollback = volver a una revisión anterior si algo falla.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42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Service: nombre estable para Pods cambiantes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31"/>
          <p:cNvSpPr/>
          <p:nvPr/>
        </p:nvSpPr>
        <p:spPr>
          <a:xfrm>
            <a:off x="822960" y="2743200"/>
            <a:ext cx="1554120" cy="63972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Frontend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32"/>
          <p:cNvSpPr/>
          <p:nvPr/>
        </p:nvSpPr>
        <p:spPr>
          <a:xfrm>
            <a:off x="2606040" y="3063240"/>
            <a:ext cx="1463040" cy="360"/>
          </a:xfrm>
          <a:prstGeom prst="line">
            <a:avLst/>
          </a:prstGeom>
          <a:ln w="2540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33"/>
          <p:cNvSpPr/>
          <p:nvPr/>
        </p:nvSpPr>
        <p:spPr>
          <a:xfrm>
            <a:off x="4251960" y="2514600"/>
            <a:ext cx="1828440" cy="109692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Service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backend:80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34"/>
          <p:cNvSpPr/>
          <p:nvPr/>
        </p:nvSpPr>
        <p:spPr>
          <a:xfrm flipV="1">
            <a:off x="6217920" y="2057400"/>
            <a:ext cx="1188720" cy="685800"/>
          </a:xfrm>
          <a:prstGeom prst="line">
            <a:avLst/>
          </a:prstGeom>
          <a:ln w="20320">
            <a:solidFill>
              <a:srgbClr val="16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35"/>
          <p:cNvSpPr/>
          <p:nvPr/>
        </p:nvSpPr>
        <p:spPr>
          <a:xfrm>
            <a:off x="6217920" y="3063240"/>
            <a:ext cx="1188720" cy="360"/>
          </a:xfrm>
          <a:prstGeom prst="line">
            <a:avLst/>
          </a:prstGeom>
          <a:ln w="20320">
            <a:solidFill>
              <a:srgbClr val="16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36"/>
          <p:cNvSpPr/>
          <p:nvPr/>
        </p:nvSpPr>
        <p:spPr>
          <a:xfrm>
            <a:off x="6217920" y="3383280"/>
            <a:ext cx="1188720" cy="685800"/>
          </a:xfrm>
          <a:prstGeom prst="line">
            <a:avLst/>
          </a:prstGeom>
          <a:ln w="20320">
            <a:solidFill>
              <a:srgbClr val="16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37"/>
          <p:cNvSpPr/>
          <p:nvPr/>
        </p:nvSpPr>
        <p:spPr>
          <a:xfrm>
            <a:off x="7635240" y="1691640"/>
            <a:ext cx="1645560" cy="63972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Pod 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38"/>
          <p:cNvSpPr/>
          <p:nvPr/>
        </p:nvSpPr>
        <p:spPr>
          <a:xfrm>
            <a:off x="7635240" y="2697480"/>
            <a:ext cx="1645560" cy="63972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Pod B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39"/>
          <p:cNvSpPr/>
          <p:nvPr/>
        </p:nvSpPr>
        <p:spPr>
          <a:xfrm>
            <a:off x="7635240" y="3703320"/>
            <a:ext cx="1645560" cy="63972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Pod 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40"/>
          <p:cNvSpPr/>
          <p:nvPr/>
        </p:nvSpPr>
        <p:spPr>
          <a:xfrm>
            <a:off x="9829800" y="1508760"/>
            <a:ext cx="173700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Tipos comunes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41"/>
          <p:cNvSpPr/>
          <p:nvPr/>
        </p:nvSpPr>
        <p:spPr>
          <a:xfrm>
            <a:off x="9829800" y="1920240"/>
            <a:ext cx="1737000" cy="26971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ClusterIP: interno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NodePort: expone puerto de nodo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LoadBalancer: balanceador cloud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Headless: DNS directo a Pods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42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17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Ingress y Gateway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31"/>
          <p:cNvSpPr/>
          <p:nvPr/>
        </p:nvSpPr>
        <p:spPr>
          <a:xfrm>
            <a:off x="777240" y="2514600"/>
            <a:ext cx="1645560" cy="63972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Usuario / Cliente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32"/>
          <p:cNvSpPr/>
          <p:nvPr/>
        </p:nvSpPr>
        <p:spPr>
          <a:xfrm>
            <a:off x="2651760" y="2834640"/>
            <a:ext cx="1280160" cy="360"/>
          </a:xfrm>
          <a:prstGeom prst="line">
            <a:avLst/>
          </a:prstGeom>
          <a:ln w="25400">
            <a:solidFill>
              <a:srgbClr val="16D9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33"/>
          <p:cNvSpPr/>
          <p:nvPr/>
        </p:nvSpPr>
        <p:spPr>
          <a:xfrm>
            <a:off x="4160520" y="2240280"/>
            <a:ext cx="2194200" cy="11883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Ingress Controller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NGINX / Traefik / ALB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34"/>
          <p:cNvSpPr/>
          <p:nvPr/>
        </p:nvSpPr>
        <p:spPr>
          <a:xfrm flipV="1">
            <a:off x="6537960" y="1920240"/>
            <a:ext cx="1280160" cy="731520"/>
          </a:xfrm>
          <a:prstGeom prst="line">
            <a:avLst/>
          </a:prstGeom>
          <a:ln w="2159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35"/>
          <p:cNvSpPr/>
          <p:nvPr/>
        </p:nvSpPr>
        <p:spPr>
          <a:xfrm>
            <a:off x="6537960" y="3017520"/>
            <a:ext cx="1280160" cy="731520"/>
          </a:xfrm>
          <a:prstGeom prst="line">
            <a:avLst/>
          </a:prstGeom>
          <a:ln w="2159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36"/>
          <p:cNvSpPr/>
          <p:nvPr/>
        </p:nvSpPr>
        <p:spPr>
          <a:xfrm>
            <a:off x="8046720" y="1600200"/>
            <a:ext cx="2651400" cy="82260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api.midominio.com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Service backend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37"/>
          <p:cNvSpPr/>
          <p:nvPr/>
        </p:nvSpPr>
        <p:spPr>
          <a:xfrm>
            <a:off x="8046720" y="3429000"/>
            <a:ext cx="2651400" cy="822600"/>
          </a:xfrm>
          <a:prstGeom prst="rect">
            <a:avLst/>
          </a:prstGeom>
          <a:solidFill>
            <a:srgbClr val="0B2447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app.midominio.com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Service frontend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38"/>
          <p:cNvSpPr/>
          <p:nvPr/>
        </p:nvSpPr>
        <p:spPr>
          <a:xfrm>
            <a:off x="1143000" y="4846320"/>
            <a:ext cx="996660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Nota técnica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39"/>
          <p:cNvSpPr/>
          <p:nvPr/>
        </p:nvSpPr>
        <p:spPr>
          <a:xfrm>
            <a:off x="1143000" y="5169240"/>
            <a:ext cx="996660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Ingress está orientado a HTTP/HTTPS. Para RPC, P2P o TCP persistente se evalúan Services, Gateway API, LoadBalancer o mallas de servicio.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40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Red en Kubernetes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31"/>
          <p:cNvSpPr/>
          <p:nvPr/>
        </p:nvSpPr>
        <p:spPr>
          <a:xfrm>
            <a:off x="777240" y="1463040"/>
            <a:ext cx="338292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Modelo plano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32"/>
          <p:cNvSpPr/>
          <p:nvPr/>
        </p:nvSpPr>
        <p:spPr>
          <a:xfrm>
            <a:off x="777240" y="1874520"/>
            <a:ext cx="3382920" cy="9140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Los Pods se comunican entre sí sin NAT interno complejo. El CNI implementa la red real.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33"/>
          <p:cNvSpPr/>
          <p:nvPr/>
        </p:nvSpPr>
        <p:spPr>
          <a:xfrm>
            <a:off x="4434840" y="1463040"/>
            <a:ext cx="338292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DNS interno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34"/>
          <p:cNvSpPr/>
          <p:nvPr/>
        </p:nvSpPr>
        <p:spPr>
          <a:xfrm>
            <a:off x="4434840" y="1874520"/>
            <a:ext cx="3382920" cy="9140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Un Service crea nombres como backend.namespace.svc.cluster.local.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35"/>
          <p:cNvSpPr/>
          <p:nvPr/>
        </p:nvSpPr>
        <p:spPr>
          <a:xfrm>
            <a:off x="8092440" y="1463040"/>
            <a:ext cx="338292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NetworkPolicy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36"/>
          <p:cNvSpPr/>
          <p:nvPr/>
        </p:nvSpPr>
        <p:spPr>
          <a:xfrm>
            <a:off x="8092440" y="1874520"/>
            <a:ext cx="3382920" cy="9140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Define quién puede hablar con quién usando selectors de Pod y Namespace.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37"/>
          <p:cNvSpPr/>
          <p:nvPr/>
        </p:nvSpPr>
        <p:spPr>
          <a:xfrm>
            <a:off x="1508760" y="3337560"/>
            <a:ext cx="9143640" cy="2194200"/>
          </a:xfrm>
          <a:prstGeom prst="rect">
            <a:avLst/>
          </a:prstGeom>
          <a:solidFill>
            <a:srgbClr val="020A17">
              <a:alpha val="95000"/>
            </a:srgbClr>
          </a:solidFill>
          <a:ln w="10160">
            <a:solidFill>
              <a:srgbClr val="16D9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kind: NetworkPolicy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name: solo-rpc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spec: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podSelector: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matchLabels: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app: validator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ingress: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- from: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- podSelector: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  matchLabels: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    app: indexer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38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19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Almacenamiento: Volumes, PV y PVC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31"/>
          <p:cNvSpPr/>
          <p:nvPr/>
        </p:nvSpPr>
        <p:spPr>
          <a:xfrm>
            <a:off x="914400" y="2240280"/>
            <a:ext cx="1371240" cy="54828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32"/>
          <p:cNvSpPr/>
          <p:nvPr/>
        </p:nvSpPr>
        <p:spPr>
          <a:xfrm>
            <a:off x="2514600" y="2514600"/>
            <a:ext cx="1371600" cy="360"/>
          </a:xfrm>
          <a:prstGeom prst="line">
            <a:avLst/>
          </a:prstGeom>
          <a:ln w="2540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33"/>
          <p:cNvSpPr/>
          <p:nvPr/>
        </p:nvSpPr>
        <p:spPr>
          <a:xfrm>
            <a:off x="4069080" y="2148840"/>
            <a:ext cx="1416960" cy="77688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PVC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solicitud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34"/>
          <p:cNvSpPr/>
          <p:nvPr/>
        </p:nvSpPr>
        <p:spPr>
          <a:xfrm>
            <a:off x="5669280" y="2514600"/>
            <a:ext cx="1325880" cy="360"/>
          </a:xfrm>
          <a:prstGeom prst="line">
            <a:avLst/>
          </a:prstGeom>
          <a:ln w="2540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35"/>
          <p:cNvSpPr/>
          <p:nvPr/>
        </p:nvSpPr>
        <p:spPr>
          <a:xfrm>
            <a:off x="7178040" y="2148840"/>
            <a:ext cx="1416960" cy="77688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volumen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36"/>
          <p:cNvSpPr/>
          <p:nvPr/>
        </p:nvSpPr>
        <p:spPr>
          <a:xfrm>
            <a:off x="8778240" y="2514600"/>
            <a:ext cx="1051560" cy="360"/>
          </a:xfrm>
          <a:prstGeom prst="line">
            <a:avLst/>
          </a:prstGeom>
          <a:ln w="2540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37"/>
          <p:cNvSpPr/>
          <p:nvPr/>
        </p:nvSpPr>
        <p:spPr>
          <a:xfrm>
            <a:off x="10012680" y="2011680"/>
            <a:ext cx="1416960" cy="100548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7C4D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StorageClass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cloud/local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38"/>
          <p:cNvSpPr/>
          <p:nvPr/>
        </p:nvSpPr>
        <p:spPr>
          <a:xfrm>
            <a:off x="914400" y="4069080"/>
            <a:ext cx="498312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ED76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En blockchain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39"/>
          <p:cNvSpPr/>
          <p:nvPr/>
        </p:nvSpPr>
        <p:spPr>
          <a:xfrm>
            <a:off x="914400" y="4480560"/>
            <a:ext cx="4983120" cy="9140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ED76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El ledger, índices y claves no deben vivir solo en una capa efímera. Para nodos validadores se usan PersistentVolumeClaims y políticas de backup.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40"/>
          <p:cNvSpPr/>
          <p:nvPr/>
        </p:nvSpPr>
        <p:spPr>
          <a:xfrm>
            <a:off x="6309360" y="4069080"/>
            <a:ext cx="498312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Decisión crítica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41"/>
          <p:cNvSpPr/>
          <p:nvPr/>
        </p:nvSpPr>
        <p:spPr>
          <a:xfrm>
            <a:off x="6309360" y="4480560"/>
            <a:ext cx="4983120" cy="9140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El rendimiento del storage afecta sincronización, latencia de validación y recuperación ante fallos.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42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20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Configuración y secretos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31"/>
          <p:cNvSpPr/>
          <p:nvPr/>
        </p:nvSpPr>
        <p:spPr>
          <a:xfrm>
            <a:off x="822960" y="1508760"/>
            <a:ext cx="507456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ConfigMap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32"/>
          <p:cNvSpPr/>
          <p:nvPr/>
        </p:nvSpPr>
        <p:spPr>
          <a:xfrm>
            <a:off x="822960" y="1920240"/>
            <a:ext cx="5074560" cy="10054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Datos no confidenciales: URL de API, modo de ejecución, parámetros de red, chain ID.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33"/>
          <p:cNvSpPr/>
          <p:nvPr/>
        </p:nvSpPr>
        <p:spPr>
          <a:xfrm>
            <a:off x="6309360" y="1508760"/>
            <a:ext cx="507456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Secret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34"/>
          <p:cNvSpPr/>
          <p:nvPr/>
        </p:nvSpPr>
        <p:spPr>
          <a:xfrm>
            <a:off x="6309360" y="1920240"/>
            <a:ext cx="5074560" cy="10054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Datos sensibles: claves privadas, tokens, passwords, certificados TLS.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35"/>
          <p:cNvSpPr/>
          <p:nvPr/>
        </p:nvSpPr>
        <p:spPr>
          <a:xfrm>
            <a:off x="1188720" y="3383280"/>
            <a:ext cx="9875160" cy="2011320"/>
          </a:xfrm>
          <a:prstGeom prst="rect">
            <a:avLst/>
          </a:prstGeom>
          <a:solidFill>
            <a:srgbClr val="020A17">
              <a:alpha val="95000"/>
            </a:srgbClr>
          </a:solidFill>
          <a:ln w="10160">
            <a:solidFill>
              <a:srgbClr val="16D9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env: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- name: CHAIN_ID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valueFrom: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configMapKeyRef: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name: chain-config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key: chain_id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- name: PRIVATE_KEY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valueFrom: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secretKeyRef: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name: validator-secret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key: private_key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36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9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0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21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Namespaces, labels y selectors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31"/>
          <p:cNvSpPr/>
          <p:nvPr/>
        </p:nvSpPr>
        <p:spPr>
          <a:xfrm>
            <a:off x="868680" y="1417320"/>
            <a:ext cx="329148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Namespaces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32"/>
          <p:cNvSpPr/>
          <p:nvPr/>
        </p:nvSpPr>
        <p:spPr>
          <a:xfrm>
            <a:off x="868680" y="1828800"/>
            <a:ext cx="3291480" cy="9140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Separan ambientes o dominios: dev, qa, prod, blockchain, monitoring.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 33"/>
          <p:cNvSpPr/>
          <p:nvPr/>
        </p:nvSpPr>
        <p:spPr>
          <a:xfrm>
            <a:off x="4480560" y="1417320"/>
            <a:ext cx="329148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Labels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34"/>
          <p:cNvSpPr/>
          <p:nvPr/>
        </p:nvSpPr>
        <p:spPr>
          <a:xfrm>
            <a:off x="4480560" y="1828800"/>
            <a:ext cx="3291480" cy="9140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Etiquetas para seleccionar recursos: app=api, tier=backend, chain=localnet.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35"/>
          <p:cNvSpPr/>
          <p:nvPr/>
        </p:nvSpPr>
        <p:spPr>
          <a:xfrm>
            <a:off x="8092440" y="1417320"/>
            <a:ext cx="329148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Selectors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36"/>
          <p:cNvSpPr/>
          <p:nvPr/>
        </p:nvSpPr>
        <p:spPr>
          <a:xfrm>
            <a:off x="8092440" y="1828800"/>
            <a:ext cx="3291480" cy="9140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Conectan Deployments, ReplicaSets, Services y NetworkPolicies con los Pods correctos.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 37"/>
          <p:cNvSpPr/>
          <p:nvPr/>
        </p:nvSpPr>
        <p:spPr>
          <a:xfrm>
            <a:off x="1645920" y="3474720"/>
            <a:ext cx="8869320" cy="1737000"/>
          </a:xfrm>
          <a:prstGeom prst="rect">
            <a:avLst/>
          </a:prstGeom>
          <a:solidFill>
            <a:srgbClr val="020A17">
              <a:alpha val="95000"/>
            </a:srgbClr>
          </a:solidFill>
          <a:ln w="10160">
            <a:solidFill>
              <a:srgbClr val="16D9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namespace: blockchain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labels: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app: validator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chain: localnet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role: rpc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---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selector: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matchLabels: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app: validator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38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22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kubectl: hablar con la API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31"/>
          <p:cNvSpPr/>
          <p:nvPr/>
        </p:nvSpPr>
        <p:spPr>
          <a:xfrm>
            <a:off x="685800" y="1234440"/>
            <a:ext cx="507456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kubectl apply -f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32"/>
          <p:cNvSpPr/>
          <p:nvPr/>
        </p:nvSpPr>
        <p:spPr>
          <a:xfrm>
            <a:off x="685800" y="1557360"/>
            <a:ext cx="507456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crear o actualizar recursos desde YAML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33"/>
          <p:cNvSpPr/>
          <p:nvPr/>
        </p:nvSpPr>
        <p:spPr>
          <a:xfrm>
            <a:off x="6263640" y="1234440"/>
            <a:ext cx="507456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kubectl get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34"/>
          <p:cNvSpPr/>
          <p:nvPr/>
        </p:nvSpPr>
        <p:spPr>
          <a:xfrm>
            <a:off x="6263640" y="1557360"/>
            <a:ext cx="507456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listar estado actual: pods, svc, nodes, pvc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35"/>
          <p:cNvSpPr/>
          <p:nvPr/>
        </p:nvSpPr>
        <p:spPr>
          <a:xfrm>
            <a:off x="685800" y="2468880"/>
            <a:ext cx="507456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kubectl describe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36"/>
          <p:cNvSpPr/>
          <p:nvPr/>
        </p:nvSpPr>
        <p:spPr>
          <a:xfrm>
            <a:off x="685800" y="2791800"/>
            <a:ext cx="507456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ver eventos y diagnóstico detallado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37"/>
          <p:cNvSpPr/>
          <p:nvPr/>
        </p:nvSpPr>
        <p:spPr>
          <a:xfrm>
            <a:off x="6263640" y="2468880"/>
            <a:ext cx="507456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kubectl logs -f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38"/>
          <p:cNvSpPr/>
          <p:nvPr/>
        </p:nvSpPr>
        <p:spPr>
          <a:xfrm>
            <a:off x="6263640" y="2791800"/>
            <a:ext cx="507456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seguir logs de un contenedor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39"/>
          <p:cNvSpPr/>
          <p:nvPr/>
        </p:nvSpPr>
        <p:spPr>
          <a:xfrm>
            <a:off x="685800" y="3703320"/>
            <a:ext cx="507456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kubectl exec -it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40"/>
          <p:cNvSpPr/>
          <p:nvPr/>
        </p:nvSpPr>
        <p:spPr>
          <a:xfrm>
            <a:off x="685800" y="4026240"/>
            <a:ext cx="507456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entrar al contenedor para depurar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 41"/>
          <p:cNvSpPr/>
          <p:nvPr/>
        </p:nvSpPr>
        <p:spPr>
          <a:xfrm>
            <a:off x="6263640" y="3703320"/>
            <a:ext cx="507456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kubectl rollout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42"/>
          <p:cNvSpPr/>
          <p:nvPr/>
        </p:nvSpPr>
        <p:spPr>
          <a:xfrm>
            <a:off x="6263640" y="4026240"/>
            <a:ext cx="507456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revisar, pausar, continuar o revertir despliegues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43"/>
          <p:cNvSpPr/>
          <p:nvPr/>
        </p:nvSpPr>
        <p:spPr>
          <a:xfrm>
            <a:off x="1828800" y="5074920"/>
            <a:ext cx="8412120" cy="840960"/>
          </a:xfrm>
          <a:prstGeom prst="rect">
            <a:avLst/>
          </a:prstGeom>
          <a:solidFill>
            <a:srgbClr val="020A17">
              <a:alpha val="95000"/>
            </a:srgbClr>
          </a:solidFill>
          <a:ln w="10160">
            <a:solidFill>
              <a:srgbClr val="16D9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kubectl apply -f k8s/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kubectl get pods -n blockchain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kubectl describe pod validator-0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kubectl logs -f deploy/api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kubectl rollout status deploy/api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kubectl rollout undo deploy/api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 44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4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7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6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5" name="Image 0" descr="/mnt/data/a_futuristic_3d_neon_infographic_scene_on_a_dark_n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6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23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Escalado y autorreparación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31"/>
          <p:cNvSpPr/>
          <p:nvPr/>
        </p:nvSpPr>
        <p:spPr>
          <a:xfrm>
            <a:off x="822960" y="1554480"/>
            <a:ext cx="507456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ED76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Self-healing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Text 32"/>
          <p:cNvSpPr/>
          <p:nvPr/>
        </p:nvSpPr>
        <p:spPr>
          <a:xfrm>
            <a:off x="822960" y="1965960"/>
            <a:ext cx="5074560" cy="10054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ED76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Si un Pod falla, se reemplaza. Si un nodo deja de reportar, las cargas se reubican según controladores.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2" name="Text 33"/>
          <p:cNvSpPr/>
          <p:nvPr/>
        </p:nvSpPr>
        <p:spPr>
          <a:xfrm>
            <a:off x="6309360" y="1554480"/>
            <a:ext cx="507456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Horizontal Pod Autoscaler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 34"/>
          <p:cNvSpPr/>
          <p:nvPr/>
        </p:nvSpPr>
        <p:spPr>
          <a:xfrm>
            <a:off x="6309360" y="1965960"/>
            <a:ext cx="5074560" cy="10054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Aumenta o reduce réplicas usando métricas como CPU, memoria o métricas custom.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Text 35"/>
          <p:cNvSpPr/>
          <p:nvPr/>
        </p:nvSpPr>
        <p:spPr>
          <a:xfrm>
            <a:off x="822960" y="3429000"/>
            <a:ext cx="507456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Cluster Autoscaler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Text 36"/>
          <p:cNvSpPr/>
          <p:nvPr/>
        </p:nvSpPr>
        <p:spPr>
          <a:xfrm>
            <a:off x="822960" y="3840480"/>
            <a:ext cx="5074560" cy="8226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En nube gestionada puede añadir o retirar nodos cuando faltan recursos.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 37"/>
          <p:cNvSpPr/>
          <p:nvPr/>
        </p:nvSpPr>
        <p:spPr>
          <a:xfrm>
            <a:off x="6309360" y="3429000"/>
            <a:ext cx="507456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Rolling update / rollback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38"/>
          <p:cNvSpPr/>
          <p:nvPr/>
        </p:nvSpPr>
        <p:spPr>
          <a:xfrm>
            <a:off x="6309360" y="3840480"/>
            <a:ext cx="5074560" cy="8226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Permite pasar de una versión a otra con menor indisponibilidad y recuperar la versión anterior.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8" name="Text 39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1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5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9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4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5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6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8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9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1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24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¿Cuándo conviene usar Kubernetes?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 31"/>
          <p:cNvSpPr/>
          <p:nvPr/>
        </p:nvSpPr>
        <p:spPr>
          <a:xfrm>
            <a:off x="822960" y="1508760"/>
            <a:ext cx="516600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ED76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Usarlo cuando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32"/>
          <p:cNvSpPr/>
          <p:nvPr/>
        </p:nvSpPr>
        <p:spPr>
          <a:xfrm>
            <a:off x="822960" y="1920240"/>
            <a:ext cx="5166000" cy="14169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ED76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Hay múltiples servicios, necesidad de alta disponibilidad, despliegues frecuentes, escalado horizontal, observabilidad y portabilidad.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Text 33"/>
          <p:cNvSpPr/>
          <p:nvPr/>
        </p:nvSpPr>
        <p:spPr>
          <a:xfrm>
            <a:off x="6263640" y="1508760"/>
            <a:ext cx="516600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4D5E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Evitarlo cuando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 34"/>
          <p:cNvSpPr/>
          <p:nvPr/>
        </p:nvSpPr>
        <p:spPr>
          <a:xfrm>
            <a:off x="6263640" y="1920240"/>
            <a:ext cx="5166000" cy="14169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4D5E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La aplicación es pequeña, el equipo no puede operar clústeres, no hay carga variable o un PaaS/serverless resuelve mejor el problema.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4" name="Text 35"/>
          <p:cNvSpPr/>
          <p:nvPr/>
        </p:nvSpPr>
        <p:spPr>
          <a:xfrm>
            <a:off x="1143000" y="4800600"/>
            <a:ext cx="9875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Criterio de ingeniería: Kubernetes reduce complejidad operacional a gran escala, pero puede aumentarla en sistemas pequeños.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36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7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8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2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5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6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7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8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1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8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9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0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2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3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25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Beneficios principales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31"/>
          <p:cNvSpPr/>
          <p:nvPr/>
        </p:nvSpPr>
        <p:spPr>
          <a:xfrm>
            <a:off x="731520" y="1417320"/>
            <a:ext cx="333720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Portabilidad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32"/>
          <p:cNvSpPr/>
          <p:nvPr/>
        </p:nvSpPr>
        <p:spPr>
          <a:xfrm>
            <a:off x="731520" y="1828800"/>
            <a:ext cx="3337200" cy="8866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mismo modelo en local, cloud, on-premise e híbrido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Text 33"/>
          <p:cNvSpPr/>
          <p:nvPr/>
        </p:nvSpPr>
        <p:spPr>
          <a:xfrm>
            <a:off x="4526280" y="1417320"/>
            <a:ext cx="333720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Disponibilidad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 34"/>
          <p:cNvSpPr/>
          <p:nvPr/>
        </p:nvSpPr>
        <p:spPr>
          <a:xfrm>
            <a:off x="4526280" y="1828800"/>
            <a:ext cx="3337200" cy="8866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réplicas, reinicio, reubicación y balanceo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1" name="Text 35"/>
          <p:cNvSpPr/>
          <p:nvPr/>
        </p:nvSpPr>
        <p:spPr>
          <a:xfrm>
            <a:off x="8321040" y="1417320"/>
            <a:ext cx="333720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Entrega continua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 36"/>
          <p:cNvSpPr/>
          <p:nvPr/>
        </p:nvSpPr>
        <p:spPr>
          <a:xfrm>
            <a:off x="8321040" y="1828800"/>
            <a:ext cx="3337200" cy="8866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rollouts, rollbacks, versiones y GitOps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3" name="Text 37"/>
          <p:cNvSpPr/>
          <p:nvPr/>
        </p:nvSpPr>
        <p:spPr>
          <a:xfrm>
            <a:off x="731520" y="3291840"/>
            <a:ext cx="333720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Escalabilidad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4" name="Text 38"/>
          <p:cNvSpPr/>
          <p:nvPr/>
        </p:nvSpPr>
        <p:spPr>
          <a:xfrm>
            <a:off x="731520" y="3703320"/>
            <a:ext cx="3337200" cy="8866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Pods y nodos crecen según demanda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39"/>
          <p:cNvSpPr/>
          <p:nvPr/>
        </p:nvSpPr>
        <p:spPr>
          <a:xfrm>
            <a:off x="4526280" y="3291840"/>
            <a:ext cx="333720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Ecosistema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6" name="Text 40"/>
          <p:cNvSpPr/>
          <p:nvPr/>
        </p:nvSpPr>
        <p:spPr>
          <a:xfrm>
            <a:off x="4526280" y="3703320"/>
            <a:ext cx="3337200" cy="8866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Helm, Prometheus, Argo CD, Istio, cert-manager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7" name="Text 41"/>
          <p:cNvSpPr/>
          <p:nvPr/>
        </p:nvSpPr>
        <p:spPr>
          <a:xfrm>
            <a:off x="8321040" y="3291840"/>
            <a:ext cx="333720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Gobernanza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42"/>
          <p:cNvSpPr/>
          <p:nvPr/>
        </p:nvSpPr>
        <p:spPr>
          <a:xfrm>
            <a:off x="8321040" y="3703320"/>
            <a:ext cx="3337200" cy="8866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Namespaces, RBAC, quotas, policies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 43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1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2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3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5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6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8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9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0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1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4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5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6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9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0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2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3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4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5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6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9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0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Inconvenientes y riesgos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31"/>
          <p:cNvSpPr/>
          <p:nvPr/>
        </p:nvSpPr>
        <p:spPr>
          <a:xfrm>
            <a:off x="731520" y="1280160"/>
            <a:ext cx="4983120" cy="3042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4D5E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Curva de aprendizaje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2" name="Text 32"/>
          <p:cNvSpPr/>
          <p:nvPr/>
        </p:nvSpPr>
        <p:spPr>
          <a:xfrm>
            <a:off x="731520" y="1612440"/>
            <a:ext cx="4983120" cy="56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4D5E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muchos objetos, comandos y fallos distribuidos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Text 33"/>
          <p:cNvSpPr/>
          <p:nvPr/>
        </p:nvSpPr>
        <p:spPr>
          <a:xfrm>
            <a:off x="6263640" y="1280160"/>
            <a:ext cx="4983120" cy="3042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Complejidad de red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34"/>
          <p:cNvSpPr/>
          <p:nvPr/>
        </p:nvSpPr>
        <p:spPr>
          <a:xfrm>
            <a:off x="6263640" y="1612440"/>
            <a:ext cx="4983120" cy="56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CNI, DNS, Ingress, TLS y políticas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Text 35"/>
          <p:cNvSpPr/>
          <p:nvPr/>
        </p:nvSpPr>
        <p:spPr>
          <a:xfrm>
            <a:off x="731520" y="2578680"/>
            <a:ext cx="4983120" cy="3042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4D5E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Persistencia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6" name="Text 36"/>
          <p:cNvSpPr/>
          <p:nvPr/>
        </p:nvSpPr>
        <p:spPr>
          <a:xfrm>
            <a:off x="731520" y="2910600"/>
            <a:ext cx="4983120" cy="56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4D5E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storage de alto rendimiento y backups requieren diseño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7" name="Text 37"/>
          <p:cNvSpPr/>
          <p:nvPr/>
        </p:nvSpPr>
        <p:spPr>
          <a:xfrm>
            <a:off x="6263640" y="2578680"/>
            <a:ext cx="4983120" cy="3042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Seguridad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38"/>
          <p:cNvSpPr/>
          <p:nvPr/>
        </p:nvSpPr>
        <p:spPr>
          <a:xfrm>
            <a:off x="6263640" y="2910600"/>
            <a:ext cx="4983120" cy="56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RBAC, secretos, imágenes, admission policies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 39"/>
          <p:cNvSpPr/>
          <p:nvPr/>
        </p:nvSpPr>
        <p:spPr>
          <a:xfrm>
            <a:off x="731520" y="3877200"/>
            <a:ext cx="4983120" cy="3042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4D5E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Costos invisibles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0" name="Text 40"/>
          <p:cNvSpPr/>
          <p:nvPr/>
        </p:nvSpPr>
        <p:spPr>
          <a:xfrm>
            <a:off x="731520" y="4209120"/>
            <a:ext cx="4983120" cy="56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4D5E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nodos ociosos, observabilidad, tráfico y storage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1" name="Text 41"/>
          <p:cNvSpPr/>
          <p:nvPr/>
        </p:nvSpPr>
        <p:spPr>
          <a:xfrm>
            <a:off x="6263640" y="3877200"/>
            <a:ext cx="4983120" cy="3042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Overengineering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Text 42"/>
          <p:cNvSpPr/>
          <p:nvPr/>
        </p:nvSpPr>
        <p:spPr>
          <a:xfrm>
            <a:off x="6263640" y="4209120"/>
            <a:ext cx="4983120" cy="56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puede ser demasiado para una app simple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Text 43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5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6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8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9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0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1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2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3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8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9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0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1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2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3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5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7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8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9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0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1" name="Image 0" descr="/mnt/data/a_detailed_isometric_neon_infographic_diagram_scen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2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27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3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4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Kubernetes aplicado a redes blockchain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31"/>
          <p:cNvSpPr/>
          <p:nvPr/>
        </p:nvSpPr>
        <p:spPr>
          <a:xfrm>
            <a:off x="685800" y="1508760"/>
            <a:ext cx="521172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Qué corre en Kubernetes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7" name="Text 32"/>
          <p:cNvSpPr/>
          <p:nvPr/>
        </p:nvSpPr>
        <p:spPr>
          <a:xfrm>
            <a:off x="685800" y="1920240"/>
            <a:ext cx="5211720" cy="10969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Nodos validadores, nodos RPC, indexadores, exploradores, APIs off-chain, oráculos, colas y dashboards.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8" name="Text 33"/>
          <p:cNvSpPr/>
          <p:nvPr/>
        </p:nvSpPr>
        <p:spPr>
          <a:xfrm>
            <a:off x="685800" y="3429000"/>
            <a:ext cx="5211720" cy="3837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Qué gana la red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9" name="Text 34"/>
          <p:cNvSpPr/>
          <p:nvPr/>
        </p:nvSpPr>
        <p:spPr>
          <a:xfrm>
            <a:off x="685800" y="3840480"/>
            <a:ext cx="5211720" cy="10969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Escalado, reemplazo de fallos, despliegues controlados, DNS interno, almacenamiento persistente y observabilidad.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0" name="Text 35"/>
          <p:cNvSpPr/>
          <p:nvPr/>
        </p:nvSpPr>
        <p:spPr>
          <a:xfrm>
            <a:off x="6263640" y="4754880"/>
            <a:ext cx="5211720" cy="3261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4D5E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Advertencia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1" name="Text 36"/>
          <p:cNvSpPr/>
          <p:nvPr/>
        </p:nvSpPr>
        <p:spPr>
          <a:xfrm>
            <a:off x="6263640" y="5108760"/>
            <a:ext cx="5211720" cy="60588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4D5E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Una red blockchain con consenso, claves y ledger requiere diseño de seguridad, persistencia y gobernanza más estricto que una API tradicional.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 37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4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5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6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7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8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9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0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1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2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3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4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5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7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8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9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0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1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2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3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4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5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6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9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28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2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3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Patrón para nodos blockchain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4" name="Text 31"/>
          <p:cNvSpPr/>
          <p:nvPr/>
        </p:nvSpPr>
        <p:spPr>
          <a:xfrm>
            <a:off x="4251960" y="1234440"/>
            <a:ext cx="3748680" cy="68544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Headless Service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validator.blockchain.svc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5" name="Shape 32"/>
          <p:cNvSpPr/>
          <p:nvPr/>
        </p:nvSpPr>
        <p:spPr>
          <a:xfrm flipH="1">
            <a:off x="2423160" y="1965960"/>
            <a:ext cx="3703320" cy="731520"/>
          </a:xfrm>
          <a:prstGeom prst="line">
            <a:avLst/>
          </a:prstGeom>
          <a:ln w="1651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6" name="Text 33"/>
          <p:cNvSpPr/>
          <p:nvPr/>
        </p:nvSpPr>
        <p:spPr>
          <a:xfrm>
            <a:off x="1143000" y="2788920"/>
            <a:ext cx="2422800" cy="77688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validator-0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identidad estable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34"/>
          <p:cNvSpPr/>
          <p:nvPr/>
        </p:nvSpPr>
        <p:spPr>
          <a:xfrm>
            <a:off x="2354400" y="3611880"/>
            <a:ext cx="360" cy="777240"/>
          </a:xfrm>
          <a:prstGeom prst="line">
            <a:avLst/>
          </a:prstGeom>
          <a:ln w="1905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8" name="Text 35"/>
          <p:cNvSpPr/>
          <p:nvPr/>
        </p:nvSpPr>
        <p:spPr>
          <a:xfrm>
            <a:off x="1371600" y="4480560"/>
            <a:ext cx="1965600" cy="685440"/>
          </a:xfrm>
          <a:prstGeom prst="rect">
            <a:avLst/>
          </a:prstGeom>
          <a:solidFill>
            <a:srgbClr val="102C1B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PVC-0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ledger persistente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9" name="Shape 36"/>
          <p:cNvSpPr/>
          <p:nvPr/>
        </p:nvSpPr>
        <p:spPr>
          <a:xfrm flipH="1">
            <a:off x="5989320" y="1965960"/>
            <a:ext cx="137160" cy="731520"/>
          </a:xfrm>
          <a:prstGeom prst="line">
            <a:avLst/>
          </a:prstGeom>
          <a:ln w="1651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37"/>
          <p:cNvSpPr/>
          <p:nvPr/>
        </p:nvSpPr>
        <p:spPr>
          <a:xfrm>
            <a:off x="4709160" y="2788920"/>
            <a:ext cx="2422800" cy="77688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validator-1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identidad estable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1" name="Shape 38"/>
          <p:cNvSpPr/>
          <p:nvPr/>
        </p:nvSpPr>
        <p:spPr>
          <a:xfrm>
            <a:off x="5920560" y="3611880"/>
            <a:ext cx="360" cy="777240"/>
          </a:xfrm>
          <a:prstGeom prst="line">
            <a:avLst/>
          </a:prstGeom>
          <a:ln w="1905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2" name="Text 39"/>
          <p:cNvSpPr/>
          <p:nvPr/>
        </p:nvSpPr>
        <p:spPr>
          <a:xfrm>
            <a:off x="4937760" y="4480560"/>
            <a:ext cx="1965600" cy="685440"/>
          </a:xfrm>
          <a:prstGeom prst="rect">
            <a:avLst/>
          </a:prstGeom>
          <a:solidFill>
            <a:srgbClr val="102C1B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PVC-1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ledger persistente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3" name="Shape 40"/>
          <p:cNvSpPr/>
          <p:nvPr/>
        </p:nvSpPr>
        <p:spPr>
          <a:xfrm>
            <a:off x="6126480" y="1965960"/>
            <a:ext cx="3429000" cy="731520"/>
          </a:xfrm>
          <a:prstGeom prst="line">
            <a:avLst/>
          </a:prstGeom>
          <a:ln w="1651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4" name="Text 41"/>
          <p:cNvSpPr/>
          <p:nvPr/>
        </p:nvSpPr>
        <p:spPr>
          <a:xfrm>
            <a:off x="8275320" y="2788920"/>
            <a:ext cx="2422800" cy="77688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validator-2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identidad estable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5" name="Shape 42"/>
          <p:cNvSpPr/>
          <p:nvPr/>
        </p:nvSpPr>
        <p:spPr>
          <a:xfrm>
            <a:off x="9486720" y="3611880"/>
            <a:ext cx="360" cy="777240"/>
          </a:xfrm>
          <a:prstGeom prst="line">
            <a:avLst/>
          </a:prstGeom>
          <a:ln w="19050">
            <a:solidFill>
              <a:srgbClr val="FFB02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 43"/>
          <p:cNvSpPr/>
          <p:nvPr/>
        </p:nvSpPr>
        <p:spPr>
          <a:xfrm>
            <a:off x="8503920" y="4480560"/>
            <a:ext cx="1965600" cy="685440"/>
          </a:xfrm>
          <a:prstGeom prst="rect">
            <a:avLst/>
          </a:prstGeom>
          <a:solidFill>
            <a:srgbClr val="102C1B">
              <a:alpha val="96000"/>
            </a:srgbClr>
          </a:solidFill>
          <a:ln w="13970">
            <a:solidFill>
              <a:srgbClr val="1ED76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PVC-2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ledger persistente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7" name="Text 44"/>
          <p:cNvSpPr/>
          <p:nvPr/>
        </p:nvSpPr>
        <p:spPr>
          <a:xfrm>
            <a:off x="2057400" y="5623560"/>
            <a:ext cx="8092080" cy="2174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ED76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Por qué importa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8" name="Text 45"/>
          <p:cNvSpPr/>
          <p:nvPr/>
        </p:nvSpPr>
        <p:spPr>
          <a:xfrm>
            <a:off x="2057400" y="5868720"/>
            <a:ext cx="8092080" cy="3945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ED76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En consenso, cada nodo puede requerir nombre, claves, datos y arranque ordenado. Un Deployment simple no siempre es suficiente.</a:t>
            </a:r>
            <a:endParaRPr lang="en-US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9" name="Text 46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1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2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3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4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5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6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7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8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9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0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1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2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3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4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5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6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7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8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9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0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1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3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4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5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7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29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8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9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0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Ejemplo mínimo: StatefulSet de validador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Text 31"/>
          <p:cNvSpPr/>
          <p:nvPr/>
        </p:nvSpPr>
        <p:spPr>
          <a:xfrm>
            <a:off x="594360" y="1325880"/>
            <a:ext cx="5486040" cy="5166000"/>
          </a:xfrm>
          <a:prstGeom prst="rect">
            <a:avLst/>
          </a:prstGeom>
          <a:solidFill>
            <a:srgbClr val="020A17">
              <a:alpha val="95000"/>
            </a:srgbClr>
          </a:solidFill>
          <a:ln w="10160">
            <a:solidFill>
              <a:srgbClr val="16D9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apiVersion: apps/v1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kind: StatefulSet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name: validator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namespace: blockchain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spec: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serviceName: validator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replicas: 3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selector: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matchLabels: { app: validator }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template: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metadata: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labels: { app: validator }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spec: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containers: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- name: node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  image: usuario/blockchain-node:1.0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  ports: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  - containerPort: 8545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  volumeMounts: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  - name: ledger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    mountPath: /data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2" name="Text 32"/>
          <p:cNvSpPr/>
          <p:nvPr/>
        </p:nvSpPr>
        <p:spPr>
          <a:xfrm>
            <a:off x="6400800" y="1325880"/>
            <a:ext cx="5166000" cy="5166000"/>
          </a:xfrm>
          <a:prstGeom prst="rect">
            <a:avLst/>
          </a:prstGeom>
          <a:solidFill>
            <a:srgbClr val="020A17">
              <a:alpha val="95000"/>
            </a:srgbClr>
          </a:solidFill>
          <a:ln w="10160">
            <a:solidFill>
              <a:srgbClr val="16D9FF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volumeClaimTemplates: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- metadata: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name: ledger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spec: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accessModes: ["ReadWriteOnce"]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resources: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requests: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    storage: 20Gi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---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apiVersion: v1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kind: Service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name: validator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spec: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clusterIP: None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selector: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  app: validator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ports: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8F6FF"/>
                </a:solidFill>
                <a:effectLst/>
                <a:uFillTx/>
                <a:latin typeface="Consolas"/>
                <a:ea typeface="Consolas"/>
              </a:rPr>
              <a:t>  - port: 8545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3" name="Text 33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5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6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7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8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9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1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2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3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4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5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6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7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8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9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0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1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2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3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4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5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6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7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8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9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0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1" name="Image 0" descr="/mnt/data/a_high_tech_isometric_3d_infographic_style_illust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2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30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3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4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Buenas prácticas para blockchain en Kubernetes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 31"/>
          <p:cNvSpPr/>
          <p:nvPr/>
        </p:nvSpPr>
        <p:spPr>
          <a:xfrm>
            <a:off x="777240" y="1325880"/>
            <a:ext cx="498312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Seguridad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 32"/>
          <p:cNvSpPr/>
          <p:nvPr/>
        </p:nvSpPr>
        <p:spPr>
          <a:xfrm>
            <a:off x="777240" y="1648800"/>
            <a:ext cx="498312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Secrets externos, RBAC mínimo, NetworkPolicies, imágenes firmadas.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 33"/>
          <p:cNvSpPr/>
          <p:nvPr/>
        </p:nvSpPr>
        <p:spPr>
          <a:xfrm>
            <a:off x="6309360" y="1325880"/>
            <a:ext cx="498312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Persistencia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9" name="Text 34"/>
          <p:cNvSpPr/>
          <p:nvPr/>
        </p:nvSpPr>
        <p:spPr>
          <a:xfrm>
            <a:off x="6309360" y="1648800"/>
            <a:ext cx="498312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PVC por nodo, snapshots, restore probado, storage con IOPS suficientes.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0" name="Text 35"/>
          <p:cNvSpPr/>
          <p:nvPr/>
        </p:nvSpPr>
        <p:spPr>
          <a:xfrm>
            <a:off x="777240" y="2569320"/>
            <a:ext cx="498312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Observabilidad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1" name="Text 36"/>
          <p:cNvSpPr/>
          <p:nvPr/>
        </p:nvSpPr>
        <p:spPr>
          <a:xfrm>
            <a:off x="777240" y="2892240"/>
            <a:ext cx="498312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métricas de bloques, peers, latencia RPC, uso de disco y eventos.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2" name="Text 37"/>
          <p:cNvSpPr/>
          <p:nvPr/>
        </p:nvSpPr>
        <p:spPr>
          <a:xfrm>
            <a:off x="6309360" y="2569320"/>
            <a:ext cx="498312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Despliegue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3" name="Text 38"/>
          <p:cNvSpPr/>
          <p:nvPr/>
        </p:nvSpPr>
        <p:spPr>
          <a:xfrm>
            <a:off x="6309360" y="2892240"/>
            <a:ext cx="498312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GitOps, Helm/Kustomize, ambientes separados y rollback documentado.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4" name="Text 39"/>
          <p:cNvSpPr/>
          <p:nvPr/>
        </p:nvSpPr>
        <p:spPr>
          <a:xfrm>
            <a:off x="777240" y="3813120"/>
            <a:ext cx="498312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Consenso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5" name="Text 40"/>
          <p:cNvSpPr/>
          <p:nvPr/>
        </p:nvSpPr>
        <p:spPr>
          <a:xfrm>
            <a:off x="777240" y="4135680"/>
            <a:ext cx="498312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validar arranque ordenado, readiness por sincronización y quorum.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 41"/>
          <p:cNvSpPr/>
          <p:nvPr/>
        </p:nvSpPr>
        <p:spPr>
          <a:xfrm>
            <a:off x="6309360" y="3813120"/>
            <a:ext cx="498312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Costos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7" name="Text 42"/>
          <p:cNvSpPr/>
          <p:nvPr/>
        </p:nvSpPr>
        <p:spPr>
          <a:xfrm>
            <a:off x="6309360" y="4135680"/>
            <a:ext cx="498312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storage + tráfico + nodos + observabilidad pueden dominar el presupuesto.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8" name="Text 43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0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1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2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3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4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6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7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8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9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0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1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2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3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6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7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8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9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0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6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31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8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9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De Docker Compose a Kubernetes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0" name="Text 31"/>
          <p:cNvSpPr/>
          <p:nvPr/>
        </p:nvSpPr>
        <p:spPr>
          <a:xfrm>
            <a:off x="1005840" y="1417320"/>
            <a:ext cx="4388760" cy="383760"/>
          </a:xfrm>
          <a:prstGeom prst="rect">
            <a:avLst/>
          </a:prstGeom>
          <a:solidFill>
            <a:srgbClr val="FFB020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Compose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Text 32"/>
          <p:cNvSpPr/>
          <p:nvPr/>
        </p:nvSpPr>
        <p:spPr>
          <a:xfrm>
            <a:off x="6720840" y="1417320"/>
            <a:ext cx="4388760" cy="383760"/>
          </a:xfrm>
          <a:prstGeom prst="rect">
            <a:avLst/>
          </a:prstGeom>
          <a:solidFill>
            <a:srgbClr val="FFB020">
              <a:alpha val="96000"/>
            </a:srgbClr>
          </a:solidFill>
          <a:ln w="13970">
            <a:solidFill>
              <a:srgbClr val="FFB020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Kubernetes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Text 33"/>
          <p:cNvSpPr/>
          <p:nvPr/>
        </p:nvSpPr>
        <p:spPr>
          <a:xfrm>
            <a:off x="1005840" y="201168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service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3" name="Text 34"/>
          <p:cNvSpPr/>
          <p:nvPr/>
        </p:nvSpPr>
        <p:spPr>
          <a:xfrm>
            <a:off x="6720840" y="201168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Deployment / StatefulSet / Job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4" name="Shape 35"/>
          <p:cNvSpPr/>
          <p:nvPr/>
        </p:nvSpPr>
        <p:spPr>
          <a:xfrm>
            <a:off x="5486400" y="2203560"/>
            <a:ext cx="1051560" cy="360"/>
          </a:xfrm>
          <a:prstGeom prst="line">
            <a:avLst/>
          </a:prstGeom>
          <a:ln w="1270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5" name="Text 36"/>
          <p:cNvSpPr/>
          <p:nvPr/>
        </p:nvSpPr>
        <p:spPr>
          <a:xfrm>
            <a:off x="1005840" y="260604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ports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Text 37"/>
          <p:cNvSpPr/>
          <p:nvPr/>
        </p:nvSpPr>
        <p:spPr>
          <a:xfrm>
            <a:off x="6720840" y="260604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Service / Ingress / Gateway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7" name="Shape 38"/>
          <p:cNvSpPr/>
          <p:nvPr/>
        </p:nvSpPr>
        <p:spPr>
          <a:xfrm>
            <a:off x="5486400" y="2797920"/>
            <a:ext cx="1051560" cy="360"/>
          </a:xfrm>
          <a:prstGeom prst="line">
            <a:avLst/>
          </a:prstGeom>
          <a:ln w="1270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8" name="Text 39"/>
          <p:cNvSpPr/>
          <p:nvPr/>
        </p:nvSpPr>
        <p:spPr>
          <a:xfrm>
            <a:off x="1005840" y="320040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volumes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9" name="Text 40"/>
          <p:cNvSpPr/>
          <p:nvPr/>
        </p:nvSpPr>
        <p:spPr>
          <a:xfrm>
            <a:off x="6720840" y="320040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PVC / PV / StorageClass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0" name="Shape 41"/>
          <p:cNvSpPr/>
          <p:nvPr/>
        </p:nvSpPr>
        <p:spPr>
          <a:xfrm>
            <a:off x="5486400" y="3392280"/>
            <a:ext cx="1051560" cy="360"/>
          </a:xfrm>
          <a:prstGeom prst="line">
            <a:avLst/>
          </a:prstGeom>
          <a:ln w="1270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1" name="Text 42"/>
          <p:cNvSpPr/>
          <p:nvPr/>
        </p:nvSpPr>
        <p:spPr>
          <a:xfrm>
            <a:off x="1005840" y="379476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environment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2" name="Text 43"/>
          <p:cNvSpPr/>
          <p:nvPr/>
        </p:nvSpPr>
        <p:spPr>
          <a:xfrm>
            <a:off x="6720840" y="379476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ConfigMap / Secret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3" name="Shape 44"/>
          <p:cNvSpPr/>
          <p:nvPr/>
        </p:nvSpPr>
        <p:spPr>
          <a:xfrm>
            <a:off x="5486400" y="3986640"/>
            <a:ext cx="1051560" cy="360"/>
          </a:xfrm>
          <a:prstGeom prst="line">
            <a:avLst/>
          </a:prstGeom>
          <a:ln w="1270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4" name="Text 45"/>
          <p:cNvSpPr/>
          <p:nvPr/>
        </p:nvSpPr>
        <p:spPr>
          <a:xfrm>
            <a:off x="1005840" y="438912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depends_on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5" name="Text 46"/>
          <p:cNvSpPr/>
          <p:nvPr/>
        </p:nvSpPr>
        <p:spPr>
          <a:xfrm>
            <a:off x="6720840" y="438912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readinessProbe / initContainers / controllers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Shape 47"/>
          <p:cNvSpPr/>
          <p:nvPr/>
        </p:nvSpPr>
        <p:spPr>
          <a:xfrm>
            <a:off x="5486400" y="4581000"/>
            <a:ext cx="1051560" cy="360"/>
          </a:xfrm>
          <a:prstGeom prst="line">
            <a:avLst/>
          </a:prstGeom>
          <a:ln w="1270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7" name="Text 48"/>
          <p:cNvSpPr/>
          <p:nvPr/>
        </p:nvSpPr>
        <p:spPr>
          <a:xfrm>
            <a:off x="1005840" y="498348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docker compose up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8" name="Text 49"/>
          <p:cNvSpPr/>
          <p:nvPr/>
        </p:nvSpPr>
        <p:spPr>
          <a:xfrm>
            <a:off x="6720840" y="4983480"/>
            <a:ext cx="4388760" cy="383760"/>
          </a:xfrm>
          <a:prstGeom prst="rect">
            <a:avLst/>
          </a:prstGeom>
          <a:solidFill>
            <a:srgbClr val="0E315E">
              <a:alpha val="96000"/>
            </a:srgbClr>
          </a:solidFill>
          <a:ln w="13970">
            <a:solidFill>
              <a:srgbClr val="16D9FF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kubectl apply / GitOps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9" name="Shape 50"/>
          <p:cNvSpPr/>
          <p:nvPr/>
        </p:nvSpPr>
        <p:spPr>
          <a:xfrm>
            <a:off x="5486400" y="5175360"/>
            <a:ext cx="1051560" cy="360"/>
          </a:xfrm>
          <a:prstGeom prst="line">
            <a:avLst/>
          </a:prstGeom>
          <a:ln w="12700">
            <a:solidFill>
              <a:srgbClr val="7C4D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0" name="Text 51"/>
          <p:cNvSpPr/>
          <p:nvPr/>
        </p:nvSpPr>
        <p:spPr>
          <a:xfrm>
            <a:off x="1371600" y="5897880"/>
            <a:ext cx="9417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La lógica declarativa es parecida; el alcance operativo es mucho mayor.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 52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3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4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5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6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7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8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9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0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1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2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3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4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5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6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7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8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9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0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1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2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3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4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5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6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7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8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9" name="Text 27"/>
          <p:cNvSpPr/>
          <p:nvPr/>
        </p:nvSpPr>
        <p:spPr>
          <a:xfrm>
            <a:off x="411480" y="255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B020"/>
                </a:solidFill>
                <a:effectLst/>
                <a:uFillTx/>
                <a:latin typeface="Aptos Display"/>
                <a:ea typeface="Aptos Display"/>
              </a:rPr>
              <a:t>32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0" name="Text 28"/>
          <p:cNvSpPr/>
          <p:nvPr/>
        </p:nvSpPr>
        <p:spPr>
          <a:xfrm>
            <a:off x="868680" y="2559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B9C8D8"/>
                </a:solidFill>
                <a:effectLst/>
                <a:uFillTx/>
                <a:latin typeface="Aptos"/>
              </a:rPr>
              <a:t>Semana 5 · Kubernetes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1" name="Shape 29"/>
          <p:cNvSpPr/>
          <p:nvPr/>
        </p:nvSpPr>
        <p:spPr>
          <a:xfrm>
            <a:off x="411480" y="585000"/>
            <a:ext cx="11338560" cy="360"/>
          </a:xfrm>
          <a:prstGeom prst="line">
            <a:avLst/>
          </a:prstGeom>
          <a:ln w="12700">
            <a:solidFill>
              <a:srgbClr val="16D9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2" name="Text 30"/>
          <p:cNvSpPr/>
          <p:nvPr/>
        </p:nvSpPr>
        <p:spPr>
          <a:xfrm>
            <a:off x="502920" y="676800"/>
            <a:ext cx="7131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Fuentes base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3" name="Text 31"/>
          <p:cNvSpPr/>
          <p:nvPr/>
        </p:nvSpPr>
        <p:spPr>
          <a:xfrm>
            <a:off x="822960" y="1417320"/>
            <a:ext cx="10515240" cy="35712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Kubernetes Docs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 32"/>
          <p:cNvSpPr/>
          <p:nvPr/>
        </p:nvSpPr>
        <p:spPr>
          <a:xfrm>
            <a:off x="822960" y="1802160"/>
            <a:ext cx="10515240" cy="66636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16D9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Conceptos, objetos, componentes, Pods, Services, Deployments, StatefulSets, ConfigMaps, Secrets, Volumes, Ingress, NetworkPolicies.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5" name="Text 33"/>
          <p:cNvSpPr/>
          <p:nvPr/>
        </p:nvSpPr>
        <p:spPr>
          <a:xfrm>
            <a:off x="822960" y="2743200"/>
            <a:ext cx="1051524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Historia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6" name="Text 34"/>
          <p:cNvSpPr/>
          <p:nvPr/>
        </p:nvSpPr>
        <p:spPr>
          <a:xfrm>
            <a:off x="822960" y="3066120"/>
            <a:ext cx="1051524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FFB020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Kubernetes 10 years blog; Kubernetes 1.0; CNCF.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7" name="Text 35"/>
          <p:cNvSpPr/>
          <p:nvPr/>
        </p:nvSpPr>
        <p:spPr>
          <a:xfrm>
            <a:off x="822960" y="3886200"/>
            <a:ext cx="10515240" cy="29484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Guía didáctica UTPL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8" name="Text 36"/>
          <p:cNvSpPr/>
          <p:nvPr/>
        </p:nvSpPr>
        <p:spPr>
          <a:xfrm>
            <a:off x="822960" y="4209120"/>
            <a:ext cx="10515240" cy="545400"/>
          </a:xfrm>
          <a:prstGeom prst="rect">
            <a:avLst/>
          </a:prstGeom>
          <a:solidFill>
            <a:srgbClr val="0B2447">
              <a:alpha val="93000"/>
            </a:srgbClr>
          </a:solidFill>
          <a:ln w="12700">
            <a:solidFill>
              <a:srgbClr val="7C4DF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9C8D8"/>
                </a:solidFill>
                <a:effectLst/>
                <a:uFillTx/>
                <a:latin typeface="Aptos"/>
                <a:ea typeface="Aptos"/>
              </a:rPr>
              <a:t>Migración y Administración de Servicios en la Nube: unidad de contenedores, orquestación, Kubernetes y blockchain.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9" name="Text 37"/>
          <p:cNvSpPr/>
          <p:nvPr/>
        </p:nvSpPr>
        <p:spPr>
          <a:xfrm>
            <a:off x="1188720" y="5715000"/>
            <a:ext cx="9783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Próximo paso: práctica de orquestación con manifiestos YAML y red blockchain de prueba.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0" name="Text 38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Shape 0"/>
          <p:cNvSpPr/>
          <p:nvPr/>
        </p:nvSpPr>
        <p:spPr>
          <a:xfrm>
            <a:off x="1828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2" name="Shape 1"/>
          <p:cNvSpPr/>
          <p:nvPr/>
        </p:nvSpPr>
        <p:spPr>
          <a:xfrm>
            <a:off x="9144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3" name="Shape 2"/>
          <p:cNvSpPr/>
          <p:nvPr/>
        </p:nvSpPr>
        <p:spPr>
          <a:xfrm>
            <a:off x="16459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4" name="Shape 3"/>
          <p:cNvSpPr/>
          <p:nvPr/>
        </p:nvSpPr>
        <p:spPr>
          <a:xfrm>
            <a:off x="23774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5" name="Shape 4"/>
          <p:cNvSpPr/>
          <p:nvPr/>
        </p:nvSpPr>
        <p:spPr>
          <a:xfrm>
            <a:off x="31089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6" name="Shape 5"/>
          <p:cNvSpPr/>
          <p:nvPr/>
        </p:nvSpPr>
        <p:spPr>
          <a:xfrm>
            <a:off x="38404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7" name="Shape 6"/>
          <p:cNvSpPr/>
          <p:nvPr/>
        </p:nvSpPr>
        <p:spPr>
          <a:xfrm>
            <a:off x="45720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8" name="Shape 7"/>
          <p:cNvSpPr/>
          <p:nvPr/>
        </p:nvSpPr>
        <p:spPr>
          <a:xfrm>
            <a:off x="53035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9" name="Shape 8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0" name="Shape 9"/>
          <p:cNvSpPr/>
          <p:nvPr/>
        </p:nvSpPr>
        <p:spPr>
          <a:xfrm>
            <a:off x="67665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1" name="Shape 10"/>
          <p:cNvSpPr/>
          <p:nvPr/>
        </p:nvSpPr>
        <p:spPr>
          <a:xfrm>
            <a:off x="74980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2" name="Shape 11"/>
          <p:cNvSpPr/>
          <p:nvPr/>
        </p:nvSpPr>
        <p:spPr>
          <a:xfrm>
            <a:off x="82296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3" name="Shape 12"/>
          <p:cNvSpPr/>
          <p:nvPr/>
        </p:nvSpPr>
        <p:spPr>
          <a:xfrm>
            <a:off x="896112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4" name="Shape 13"/>
          <p:cNvSpPr/>
          <p:nvPr/>
        </p:nvSpPr>
        <p:spPr>
          <a:xfrm>
            <a:off x="969264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5" name="Shape 14"/>
          <p:cNvSpPr/>
          <p:nvPr/>
        </p:nvSpPr>
        <p:spPr>
          <a:xfrm>
            <a:off x="1042416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6" name="Shape 15"/>
          <p:cNvSpPr/>
          <p:nvPr/>
        </p:nvSpPr>
        <p:spPr>
          <a:xfrm>
            <a:off x="1115568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7" name="Shape 16"/>
          <p:cNvSpPr/>
          <p:nvPr/>
        </p:nvSpPr>
        <p:spPr>
          <a:xfrm>
            <a:off x="11887200" y="0"/>
            <a:ext cx="360" cy="6858000"/>
          </a:xfrm>
          <a:prstGeom prst="line">
            <a:avLst/>
          </a:prstGeom>
          <a:ln w="5080">
            <a:solidFill>
              <a:srgbClr val="12345C">
                <a:alpha val="2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8" name="Shape 17"/>
          <p:cNvSpPr/>
          <p:nvPr/>
        </p:nvSpPr>
        <p:spPr>
          <a:xfrm>
            <a:off x="0" y="1828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9" name="Shape 18"/>
          <p:cNvSpPr/>
          <p:nvPr/>
        </p:nvSpPr>
        <p:spPr>
          <a:xfrm>
            <a:off x="0" y="9144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0" name="Shape 19"/>
          <p:cNvSpPr/>
          <p:nvPr/>
        </p:nvSpPr>
        <p:spPr>
          <a:xfrm>
            <a:off x="0" y="16459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1" name="Shape 20"/>
          <p:cNvSpPr/>
          <p:nvPr/>
        </p:nvSpPr>
        <p:spPr>
          <a:xfrm>
            <a:off x="0" y="23774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2" name="Shape 21"/>
          <p:cNvSpPr/>
          <p:nvPr/>
        </p:nvSpPr>
        <p:spPr>
          <a:xfrm>
            <a:off x="0" y="31089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3" name="Shape 22"/>
          <p:cNvSpPr/>
          <p:nvPr/>
        </p:nvSpPr>
        <p:spPr>
          <a:xfrm>
            <a:off x="0" y="384048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4" name="Shape 23"/>
          <p:cNvSpPr/>
          <p:nvPr/>
        </p:nvSpPr>
        <p:spPr>
          <a:xfrm>
            <a:off x="0" y="457200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5" name="Shape 24"/>
          <p:cNvSpPr/>
          <p:nvPr/>
        </p:nvSpPr>
        <p:spPr>
          <a:xfrm>
            <a:off x="0" y="530352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6" name="Shape 25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7" name="Shape 26"/>
          <p:cNvSpPr/>
          <p:nvPr/>
        </p:nvSpPr>
        <p:spPr>
          <a:xfrm>
            <a:off x="0" y="6766560"/>
            <a:ext cx="12191400" cy="360"/>
          </a:xfrm>
          <a:prstGeom prst="line">
            <a:avLst/>
          </a:prstGeom>
          <a:ln w="5080">
            <a:solidFill>
              <a:srgbClr val="12345C">
                <a:alpha val="22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8" name="Image 0" descr="/mnt/data/a_detailed_isometric_neon_infographic_diagram_scen.png"/>
          <p:cNvPicPr/>
          <p:nvPr/>
        </p:nvPicPr>
        <p:blipFill>
          <a:blip r:embed="rId3"/>
          <a:srcRect t="24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9" name="Text 27"/>
          <p:cNvSpPr/>
          <p:nvPr/>
        </p:nvSpPr>
        <p:spPr>
          <a:xfrm>
            <a:off x="731520" y="2103120"/>
            <a:ext cx="64918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4FAFF"/>
                </a:solidFill>
                <a:effectLst/>
                <a:uFillTx/>
                <a:latin typeface="Aptos Display"/>
                <a:ea typeface="Aptos Display"/>
              </a:rPr>
              <a:t>¿Listos para la práctica?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Text 28"/>
          <p:cNvSpPr/>
          <p:nvPr/>
        </p:nvSpPr>
        <p:spPr>
          <a:xfrm>
            <a:off x="758880" y="2971800"/>
            <a:ext cx="5943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9C8D8"/>
                </a:solidFill>
                <a:effectLst/>
                <a:uFillTx/>
                <a:latin typeface="Aptos"/>
              </a:rPr>
              <a:t>Del concepto al manifiesto: Pods, Services, Deployments y StatefulSets para una red blockchain.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Text 29"/>
          <p:cNvSpPr/>
          <p:nvPr/>
        </p:nvSpPr>
        <p:spPr>
          <a:xfrm>
            <a:off x="777240" y="4069080"/>
            <a:ext cx="2239920" cy="255600"/>
          </a:xfrm>
          <a:prstGeom prst="rect">
            <a:avLst/>
          </a:prstGeom>
          <a:solidFill>
            <a:srgbClr val="FFB020">
              <a:alpha val="75000"/>
            </a:srgbClr>
          </a:solidFill>
          <a:ln w="8890">
            <a:solidFill>
              <a:srgbClr val="FFB020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FAFF"/>
                </a:solidFill>
                <a:effectLst/>
                <a:uFillTx/>
                <a:latin typeface="Aptos"/>
              </a:rPr>
              <a:t>kubectl apply -f k8s/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Text 30"/>
          <p:cNvSpPr/>
          <p:nvPr/>
        </p:nvSpPr>
        <p:spPr>
          <a:xfrm>
            <a:off x="502920" y="6510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F8197"/>
                </a:solidFill>
                <a:effectLst/>
                <a:uFillTx/>
                <a:latin typeface="Aptos"/>
              </a:rPr>
              <a:t>Migración y Administración de Servicios en la Nube · UTPL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2782</Words>
  <Application>Microsoft Office PowerPoint</Application>
  <PresentationFormat>Panorámica</PresentationFormat>
  <Paragraphs>586</Paragraphs>
  <Slides>33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1" baseType="lpstr">
      <vt:lpstr>Aptos</vt:lpstr>
      <vt:lpstr>Aptos Display</vt:lpstr>
      <vt:lpstr>Arial</vt:lpstr>
      <vt:lpstr>Consolas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JONATHAN ANDRES ROSERO SOTO</cp:lastModifiedBy>
  <cp:revision>1</cp:revision>
  <dcterms:modified xsi:type="dcterms:W3CDTF">2026-06-25T23:11:26Z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2026-06-24T23:45:27Z</dcterms:created>
  <dc:creator>Jonathan Rosero</dc:creator>
  <dc:description/>
  <dc:language>en-US</dc:language>
  <cp:lastModifiedBy>Jonathan Rosero</cp:lastModifiedBy>
  <dcterms:modified xsi:type="dcterms:W3CDTF">2026-06-24T23:45:27Z</dcterms:modified>
  <cp:revision>1</cp:revision>
  <dc:subject>Migración y Administración de Servicios en la Nube</dc:subject>
  <dc:title>Semana 3 - Kubernetes aplicado a blockchain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33</vt:r8>
  </property>
  <property fmtid="{D5CDD505-2E9C-101B-9397-08002B2CF9AE}" pid="3" name="PresentationFormat">
    <vt:lpwstr>On-screen Show (16:9)</vt:lpwstr>
  </property>
  <property fmtid="{D5CDD505-2E9C-101B-9397-08002B2CF9AE}" pid="4" name="Slides">
    <vt:r8>33</vt:r8>
  </property>
</Properties>
</file>